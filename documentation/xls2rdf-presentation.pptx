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28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2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22.xml" ContentType="application/vnd.openxmlformats-officedocument.presentationml.notesSlide+xml"/>
  <Override PartName="/docProps/custom.xml" ContentType="application/vnd.openxmlformats-officedocument.custom-properties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21.xml" ContentType="application/vnd.openxmlformats-officedocument.presentationml.notesSlide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ppt/theme/theme5.xml" ContentType="application/vnd.openxmlformats-officedocument.them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app.xml" ContentType="application/vnd.openxmlformats-officedocument.extended-properties+xml"/>
  <Override PartName="/ppt/slideLayouts/slideLayout3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Layouts/slideLayout30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3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0.xml" ContentType="application/vnd.openxmlformats-officedocument.presentationml.slide+xml"/>
  <Override PartName="/ppt/slideLayouts/slideLayout23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32.xml" ContentType="application/vnd.openxmlformats-officedocument.presentationml.slideLayout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slideLayouts/slideLayout25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Layouts/slideLayout24.xml" ContentType="application/vnd.openxmlformats-officedocument.presentationml.slideLayout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14.xml" ContentType="application/vnd.openxmlformats-officedocument.presentationml.notesSlide+xml"/>
  <Override PartName="/ppt/slideLayouts/slideLayout37.xml" ContentType="application/vnd.openxmlformats-officedocument.presentationml.slideLayout+xml"/>
  <Override PartName="/ppt/slides/slide26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60" r:id="rId2"/>
    <p:sldMasterId id="2147483669" r:id="rId3"/>
    <p:sldMasterId id="2147483678" r:id="rId4"/>
  </p:sldMasterIdLst>
  <p:notesMasterIdLst>
    <p:notesMasterId r:id="rId3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</p:sldIdLst>
  <p:sldSz cx="12192000" cy="6858000"/>
  <p:notesSz cx="12192000" cy="6858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94" d="100"/>
          <a:sy n="94" d="100"/>
        </p:scale>
        <p:origin x="1170" y="8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theme" Target="theme/theme3.xml"/><Relationship Id="rId8" Type="http://schemas.openxmlformats.org/officeDocument/2006/relationships/theme" Target="theme/theme4.xml"/><Relationship Id="rId9" Type="http://schemas.openxmlformats.org/officeDocument/2006/relationships/theme" Target="theme/theme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 /><Relationship Id="rId38" Type="http://schemas.openxmlformats.org/officeDocument/2006/relationships/tableStyles" Target="tableStyles.xml" /><Relationship Id="rId3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30D92E-B7E3-53DD-B8BB-95081DE0AE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20FE2-286F-C3AB-ED07-F4FA99929F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6691E-F3C3-FA32-A4D9-389025265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4F0F1E-67FD-B1CF-0FC5-FBEA7E6DB1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38EED2-3AE7-C1A5-6132-D7F82D6CD5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58DE81-0DC3-70A7-44FC-D8BD81A758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9D2403-46D6-DED9-E850-79763D985C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DEEC9F-21F4-7048-C122-E5784FEC12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4E2CE-8DDB-15F2-C7A7-6A174AC28F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CE4C73-2F77-4758-1259-4A3497F36C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83C4FA-C5EF-DE4A-73C3-764ED317E4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822588-5027-CEF3-4A0F-6CDE5A863A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AEF60A-E19D-DC45-97C3-50CEA4ADD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64E853-C7D3-38B8-734F-58204CA121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9E7045-820C-6EDB-45A5-13F3A887DC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07DA3-56B1-A807-4918-6BC744FF81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C840BF-23FE-2E22-F4D8-D743E9F1D7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3572FF-D277-B38C-FC3E-963A2BBFB9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D903C3-75A9-DCE5-D24B-2F6C664A90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9A3514-7BA1-11BC-2162-D3877597D8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BAC75-D27F-FE9E-28C4-92BF24480C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446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6775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3495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0A6B7F-C1AB-F010-AE38-1F279AD85C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435D2B-2819-B0BF-6DA1-8A5AAF8D7F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1265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12306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487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81D3B-7229-1B76-0DB9-A8FF7AE4BC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0901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764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429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00CD-EF89-1B9A-E4F0-177A1E4F7F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F8E5B4-8CE5-FC93-AD9A-4912C53FF0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208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947237191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140514278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997E3E-5E64-4D2C-8778-38C0672080C4}" type="datetimeFigureOut">
              <a:rPr lang="fr-FR"/>
              <a:t/>
            </a:fld>
            <a:endParaRPr lang="fr-FR"/>
          </a:p>
        </p:txBody>
      </p:sp>
      <p:sp>
        <p:nvSpPr>
          <p:cNvPr id="115978913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4787994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634819-CD32-494A-8FD0-CBCDFC6A5E0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576471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49690215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96447638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997E3E-5E64-4D2C-8778-38C0672080C4}" type="datetimeFigureOut">
              <a:rPr lang="fr-FR"/>
              <a:t/>
            </a:fld>
            <a:endParaRPr lang="fr-FR"/>
          </a:p>
        </p:txBody>
      </p:sp>
      <p:sp>
        <p:nvSpPr>
          <p:cNvPr id="129686704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733372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634819-CD32-494A-8FD0-CBCDFC6A5E0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253420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214696412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12624725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997E3E-5E64-4D2C-8778-38C0672080C4}" type="datetimeFigureOut">
              <a:rPr lang="fr-FR"/>
              <a:t/>
            </a:fld>
            <a:endParaRPr lang="fr-FR"/>
          </a:p>
        </p:txBody>
      </p:sp>
      <p:sp>
        <p:nvSpPr>
          <p:cNvPr id="33735581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501570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634819-CD32-494A-8FD0-CBCDFC6A5E0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49036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37496704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955544981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316960508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997E3E-5E64-4D2C-8778-38C0672080C4}" type="datetimeFigureOut">
              <a:rPr lang="fr-FR"/>
              <a:t/>
            </a:fld>
            <a:endParaRPr lang="fr-FR"/>
          </a:p>
        </p:txBody>
      </p:sp>
      <p:sp>
        <p:nvSpPr>
          <p:cNvPr id="1948296322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4228690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634819-CD32-494A-8FD0-CBCDFC6A5E0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93223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17756795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376609820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545274836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12889748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82242389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997E3E-5E64-4D2C-8778-38C0672080C4}" type="datetimeFigureOut">
              <a:rPr lang="fr-FR"/>
              <a:t/>
            </a:fld>
            <a:endParaRPr lang="fr-FR"/>
          </a:p>
        </p:txBody>
      </p:sp>
      <p:sp>
        <p:nvSpPr>
          <p:cNvPr id="1278010755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22178410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634819-CD32-494A-8FD0-CBCDFC6A5E0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7338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563025131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997E3E-5E64-4D2C-8778-38C0672080C4}" type="datetimeFigureOut">
              <a:rPr lang="fr-FR"/>
              <a:t/>
            </a:fld>
            <a:endParaRPr lang="fr-FR"/>
          </a:p>
        </p:txBody>
      </p:sp>
      <p:sp>
        <p:nvSpPr>
          <p:cNvPr id="1259340377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70236453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634819-CD32-494A-8FD0-CBCDFC6A5E0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943366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997E3E-5E64-4D2C-8778-38C0672080C4}" type="datetimeFigureOut">
              <a:rPr lang="fr-FR"/>
              <a:t/>
            </a:fld>
            <a:endParaRPr lang="fr-FR"/>
          </a:p>
        </p:txBody>
      </p:sp>
      <p:sp>
        <p:nvSpPr>
          <p:cNvPr id="198467332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41197517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634819-CD32-494A-8FD0-CBCDFC6A5E0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39173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864865920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801551256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69315378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997E3E-5E64-4D2C-8778-38C0672080C4}" type="datetimeFigureOut">
              <a:rPr lang="fr-FR"/>
              <a:t/>
            </a:fld>
            <a:endParaRPr lang="fr-FR"/>
          </a:p>
        </p:txBody>
      </p:sp>
      <p:sp>
        <p:nvSpPr>
          <p:cNvPr id="472262810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8539174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634819-CD32-494A-8FD0-CBCDFC6A5E0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184504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670659301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fr-FR"/>
          </a:p>
        </p:txBody>
      </p:sp>
      <p:sp>
        <p:nvSpPr>
          <p:cNvPr id="1204492033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59605027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997E3E-5E64-4D2C-8778-38C0672080C4}" type="datetimeFigureOut">
              <a:rPr lang="fr-FR"/>
              <a:t/>
            </a:fld>
            <a:endParaRPr lang="fr-FR"/>
          </a:p>
        </p:txBody>
      </p:sp>
      <p:sp>
        <p:nvSpPr>
          <p:cNvPr id="1449717427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92413140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634819-CD32-494A-8FD0-CBCDFC6A5E0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95924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66057549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68726141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997E3E-5E64-4D2C-8778-38C0672080C4}" type="datetimeFigureOut">
              <a:rPr lang="fr-FR"/>
              <a:t/>
            </a:fld>
            <a:endParaRPr lang="fr-FR"/>
          </a:p>
        </p:txBody>
      </p:sp>
      <p:sp>
        <p:nvSpPr>
          <p:cNvPr id="120084687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1485450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634819-CD32-494A-8FD0-CBCDFC6A5E0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724078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133429665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3673912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997E3E-5E64-4D2C-8778-38C0672080C4}" type="datetimeFigureOut">
              <a:rPr lang="fr-FR"/>
              <a:t/>
            </a:fld>
            <a:endParaRPr lang="fr-FR"/>
          </a:p>
        </p:txBody>
      </p:sp>
      <p:sp>
        <p:nvSpPr>
          <p:cNvPr id="155796377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3900482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634819-CD32-494A-8FD0-CBCDFC6A5E0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105888" name="Google Shape;10;p2"/>
          <p:cNvSpPr txBox="1">
            <a:spLocks noGrp="1"/>
          </p:cNvSpPr>
          <p:nvPr>
            <p:ph type="ctrTitle"/>
          </p:nvPr>
        </p:nvSpPr>
        <p:spPr bwMode="auto"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9pPr>
          </a:lstStyle>
          <a:p>
            <a:pPr>
              <a:defRPr/>
            </a:pPr>
            <a:endParaRPr/>
          </a:p>
        </p:txBody>
      </p:sp>
      <p:sp>
        <p:nvSpPr>
          <p:cNvPr id="591435870" name="Google Shape;11;p2"/>
          <p:cNvSpPr txBox="1">
            <a:spLocks noGrp="1"/>
          </p:cNvSpPr>
          <p:nvPr>
            <p:ph type="subTitle" idx="1"/>
          </p:nvPr>
        </p:nvSpPr>
        <p:spPr bwMode="auto"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9pPr>
          </a:lstStyle>
          <a:p>
            <a:pPr>
              <a:defRPr/>
            </a:pPr>
            <a:endParaRPr/>
          </a:p>
        </p:txBody>
      </p:sp>
      <p:sp>
        <p:nvSpPr>
          <p:cNvPr id="43025832" name="Google Shape;12;p2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150299" name="Google Shape;14;p3"/>
          <p:cNvSpPr txBox="1">
            <a:spLocks noGrp="1"/>
          </p:cNvSpPr>
          <p:nvPr>
            <p:ph type="title"/>
          </p:nvPr>
        </p:nvSpPr>
        <p:spPr bwMode="auto"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702805500" name="Google Shape;15;p3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 and two 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983639" name="Google Shape;21;p5"/>
          <p:cNvSpPr txBox="1">
            <a:spLocks noGrp="1"/>
          </p:cNvSpPr>
          <p:nvPr>
            <p:ph type="title"/>
          </p:nvPr>
        </p:nvSpPr>
        <p:spPr bwMode="auto"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1409512" name="Google Shape;22;p5"/>
          <p:cNvSpPr txBox="1">
            <a:spLocks noGrp="1"/>
          </p:cNvSpPr>
          <p:nvPr>
            <p:ph type="body" idx="1"/>
          </p:nvPr>
        </p:nvSpPr>
        <p:spPr bwMode="auto"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5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268100680" name="Google Shape;23;p5"/>
          <p:cNvSpPr txBox="1">
            <a:spLocks noGrp="1"/>
          </p:cNvSpPr>
          <p:nvPr>
            <p:ph type="body" idx="2"/>
          </p:nvPr>
        </p:nvSpPr>
        <p:spPr bwMode="auto"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5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906314544" name="Google Shape;24;p5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 column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716984" name="Google Shape;29;p7"/>
          <p:cNvSpPr txBox="1">
            <a:spLocks noGrp="1"/>
          </p:cNvSpPr>
          <p:nvPr>
            <p:ph type="title"/>
          </p:nvPr>
        </p:nvSpPr>
        <p:spPr bwMode="auto">
          <a:xfrm>
            <a:off x="415600" y="740800"/>
            <a:ext cx="3744000" cy="10075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pPr>
              <a:defRPr/>
            </a:pPr>
            <a:endParaRPr/>
          </a:p>
        </p:txBody>
      </p:sp>
      <p:sp>
        <p:nvSpPr>
          <p:cNvPr id="1200971346" name="Google Shape;30;p7"/>
          <p:cNvSpPr txBox="1">
            <a:spLocks noGrp="1"/>
          </p:cNvSpPr>
          <p:nvPr>
            <p:ph type="body" idx="1"/>
          </p:nvPr>
        </p:nvSpPr>
        <p:spPr bwMode="auto"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534771522" name="Google Shape;31;p7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 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288313" name="Google Shape;33;p8"/>
          <p:cNvSpPr txBox="1">
            <a:spLocks noGrp="1"/>
          </p:cNvSpPr>
          <p:nvPr>
            <p:ph type="title"/>
          </p:nvPr>
        </p:nvSpPr>
        <p:spPr bwMode="auto"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pPr>
              <a:defRPr/>
            </a:pPr>
            <a:endParaRPr/>
          </a:p>
        </p:txBody>
      </p:sp>
      <p:sp>
        <p:nvSpPr>
          <p:cNvPr id="700585176" name="Google Shape;34;p8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 title and 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270574" name="Google Shape;36;p9"/>
          <p:cNvSpPr/>
          <p:nvPr/>
        </p:nvSpPr>
        <p:spPr bwMode="auto"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/>
          </a:p>
        </p:txBody>
      </p:sp>
      <p:sp>
        <p:nvSpPr>
          <p:cNvPr id="1593611710" name="Google Shape;37;p9"/>
          <p:cNvSpPr txBox="1">
            <a:spLocks noGrp="1"/>
          </p:cNvSpPr>
          <p:nvPr>
            <p:ph type="title"/>
          </p:nvPr>
        </p:nvSpPr>
        <p:spPr bwMode="auto"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pPr>
              <a:defRPr/>
            </a:pPr>
            <a:endParaRPr/>
          </a:p>
        </p:txBody>
      </p:sp>
      <p:sp>
        <p:nvSpPr>
          <p:cNvPr id="2108500494" name="Google Shape;38;p9"/>
          <p:cNvSpPr txBox="1">
            <a:spLocks noGrp="1"/>
          </p:cNvSpPr>
          <p:nvPr>
            <p:ph type="subTitle" idx="1"/>
          </p:nvPr>
        </p:nvSpPr>
        <p:spPr bwMode="auto"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1463154904" name="Google Shape;39;p9"/>
          <p:cNvSpPr txBox="1">
            <a:spLocks noGrp="1"/>
          </p:cNvSpPr>
          <p:nvPr>
            <p:ph type="body" idx="2"/>
          </p:nvPr>
        </p:nvSpPr>
        <p:spPr bwMode="auto"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2185955" name="Google Shape;40;p9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718487" name="Google Shape;42;p10"/>
          <p:cNvSpPr txBox="1">
            <a:spLocks noGrp="1"/>
          </p:cNvSpPr>
          <p:nvPr>
            <p:ph type="body" idx="1"/>
          </p:nvPr>
        </p:nvSpPr>
        <p:spPr bwMode="auto"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33982983" name="Google Shape;43;p10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 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620971" name="Google Shape;45;p11"/>
          <p:cNvSpPr txBox="1">
            <a:spLocks noGrp="1"/>
          </p:cNvSpPr>
          <p:nvPr>
            <p:ph type="title" hasCustomPrompt="1"/>
          </p:nvPr>
        </p:nvSpPr>
        <p:spPr bwMode="auto"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2006179030" name="Google Shape;46;p11"/>
          <p:cNvSpPr txBox="1">
            <a:spLocks noGrp="1"/>
          </p:cNvSpPr>
          <p:nvPr>
            <p:ph type="body" idx="1"/>
          </p:nvPr>
        </p:nvSpPr>
        <p:spPr bwMode="auto"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97504031" name="Google Shape;47;p11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791751" name="Google Shape;10;p2"/>
          <p:cNvSpPr txBox="1">
            <a:spLocks noGrp="1"/>
          </p:cNvSpPr>
          <p:nvPr>
            <p:ph type="ctrTitle"/>
          </p:nvPr>
        </p:nvSpPr>
        <p:spPr bwMode="auto">
          <a:xfrm>
            <a:off x="415611" y="992766"/>
            <a:ext cx="11360800" cy="2736798"/>
          </a:xfrm>
          <a:prstGeom prst="rect">
            <a:avLst/>
          </a:prstGeom>
        </p:spPr>
        <p:txBody>
          <a:bodyPr spcFirstLastPara="1" wrap="square" lIns="91423" tIns="91423" rIns="91423" bIns="91423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50"/>
            </a:lvl9pPr>
          </a:lstStyle>
          <a:p>
            <a:pPr>
              <a:defRPr/>
            </a:pPr>
            <a:endParaRPr/>
          </a:p>
        </p:txBody>
      </p:sp>
      <p:sp>
        <p:nvSpPr>
          <p:cNvPr id="1324439576" name="Google Shape;11;p2"/>
          <p:cNvSpPr txBox="1">
            <a:spLocks noGrp="1"/>
          </p:cNvSpPr>
          <p:nvPr>
            <p:ph type="subTitle" idx="1"/>
          </p:nvPr>
        </p:nvSpPr>
        <p:spPr bwMode="auto">
          <a:xfrm>
            <a:off x="415599" y="3778831"/>
            <a:ext cx="11360800" cy="10567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50"/>
            </a:lvl9pPr>
          </a:lstStyle>
          <a:p>
            <a:pPr>
              <a:defRPr/>
            </a:pPr>
            <a:endParaRPr/>
          </a:p>
        </p:txBody>
      </p:sp>
      <p:sp>
        <p:nvSpPr>
          <p:cNvPr id="413786283" name="Google Shape;12;p2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599" cy="524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C4F988B9-B6C9-662B-4C2D-8EEE685CF8C9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454021" name="Google Shape;14;p3"/>
          <p:cNvSpPr txBox="1">
            <a:spLocks noGrp="1"/>
          </p:cNvSpPr>
          <p:nvPr>
            <p:ph type="title"/>
          </p:nvPr>
        </p:nvSpPr>
        <p:spPr bwMode="auto">
          <a:xfrm>
            <a:off x="415599" y="2867799"/>
            <a:ext cx="11360800" cy="11223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796526741" name="Google Shape;15;p3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599" cy="524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8045C5FB-C836-7374-3846-144D7D70D9D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 and two 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689764" name="Google Shape;21;p5"/>
          <p:cNvSpPr txBox="1">
            <a:spLocks noGrp="1"/>
          </p:cNvSpPr>
          <p:nvPr>
            <p:ph type="title"/>
          </p:nvPr>
        </p:nvSpPr>
        <p:spPr bwMode="auto">
          <a:xfrm>
            <a:off x="415599" y="593366"/>
            <a:ext cx="11360800" cy="7635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88222228" name="Google Shape;22;p5"/>
          <p:cNvSpPr txBox="1">
            <a:spLocks noGrp="1"/>
          </p:cNvSpPr>
          <p:nvPr>
            <p:ph type="body" idx="1"/>
          </p:nvPr>
        </p:nvSpPr>
        <p:spPr bwMode="auto">
          <a:xfrm>
            <a:off x="415599" y="1536633"/>
            <a:ext cx="5333199" cy="45551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rmAutofit/>
          </a:bodyPr>
          <a:lstStyle>
            <a:lvl1pPr marL="609584" lvl="0" indent="-423322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50"/>
            </a:lvl1pPr>
            <a:lvl2pPr marL="1219169" lvl="1" indent="-40638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3" lvl="2" indent="-40638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8" lvl="3" indent="-406389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3" lvl="4" indent="-40638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8" lvl="5" indent="-40638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2" lvl="6" indent="-406389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7" lvl="7" indent="-40638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2" lvl="8" indent="-40638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27234219" name="Google Shape;23;p5"/>
          <p:cNvSpPr txBox="1">
            <a:spLocks noGrp="1"/>
          </p:cNvSpPr>
          <p:nvPr>
            <p:ph type="body" idx="2"/>
          </p:nvPr>
        </p:nvSpPr>
        <p:spPr bwMode="auto">
          <a:xfrm>
            <a:off x="6443200" y="1536633"/>
            <a:ext cx="5333199" cy="45551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rmAutofit/>
          </a:bodyPr>
          <a:lstStyle>
            <a:lvl1pPr marL="609584" lvl="0" indent="-423322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50"/>
            </a:lvl1pPr>
            <a:lvl2pPr marL="1219169" lvl="1" indent="-40638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3" lvl="2" indent="-40638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8" lvl="3" indent="-406389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3" lvl="4" indent="-40638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8" lvl="5" indent="-40638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2" lvl="6" indent="-406389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7" lvl="7" indent="-40638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2" lvl="8" indent="-40638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060106787" name="Google Shape;24;p5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599" cy="524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16C4C583-4C92-1E4E-9FED-DD095C634C30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 column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247947" name="Google Shape;29;p7"/>
          <p:cNvSpPr txBox="1">
            <a:spLocks noGrp="1"/>
          </p:cNvSpPr>
          <p:nvPr>
            <p:ph type="title"/>
          </p:nvPr>
        </p:nvSpPr>
        <p:spPr bwMode="auto">
          <a:xfrm>
            <a:off x="415599" y="740799"/>
            <a:ext cx="3744000" cy="1007598"/>
          </a:xfrm>
          <a:prstGeom prst="rect">
            <a:avLst/>
          </a:prstGeom>
        </p:spPr>
        <p:txBody>
          <a:bodyPr spcFirstLastPara="1" wrap="square" lIns="91423" tIns="91423" rIns="91423" bIns="91423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pPr>
              <a:defRPr/>
            </a:pPr>
            <a:endParaRPr/>
          </a:p>
        </p:txBody>
      </p:sp>
      <p:sp>
        <p:nvSpPr>
          <p:cNvPr id="1133845999" name="Google Shape;30;p7"/>
          <p:cNvSpPr txBox="1">
            <a:spLocks noGrp="1"/>
          </p:cNvSpPr>
          <p:nvPr>
            <p:ph type="body" idx="1"/>
          </p:nvPr>
        </p:nvSpPr>
        <p:spPr bwMode="auto">
          <a:xfrm>
            <a:off x="415599" y="1852799"/>
            <a:ext cx="3744000" cy="42391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rmAutofit/>
          </a:bodyPr>
          <a:lstStyle>
            <a:lvl1pPr marL="609584" lvl="0" indent="-406389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69" lvl="1" indent="-40638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3" lvl="2" indent="-40638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8" lvl="3" indent="-406389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3" lvl="4" indent="-40638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8" lvl="5" indent="-40638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2" lvl="6" indent="-406389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7" lvl="7" indent="-406389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2" lvl="8" indent="-406389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992769737" name="Google Shape;31;p7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599" cy="524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C4A0BDCE-7DC9-C860-38AA-086EF7BE9265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 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0826750" name="Google Shape;33;p8"/>
          <p:cNvSpPr txBox="1">
            <a:spLocks noGrp="1"/>
          </p:cNvSpPr>
          <p:nvPr>
            <p:ph type="title"/>
          </p:nvPr>
        </p:nvSpPr>
        <p:spPr bwMode="auto">
          <a:xfrm>
            <a:off x="653666" y="600199"/>
            <a:ext cx="8490399" cy="54543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pPr>
              <a:defRPr/>
            </a:pPr>
            <a:endParaRPr/>
          </a:p>
        </p:txBody>
      </p:sp>
      <p:sp>
        <p:nvSpPr>
          <p:cNvPr id="279708577" name="Google Shape;34;p8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599" cy="524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E2C86273-41CE-0646-87FB-B62C61DA7BE1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 title and 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1753643" name="Google Shape;36;p9"/>
          <p:cNvSpPr/>
          <p:nvPr/>
        </p:nvSpPr>
        <p:spPr bwMode="auto">
          <a:xfrm>
            <a:off x="6095999" y="-166"/>
            <a:ext cx="609599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898" tIns="121898" rIns="121898" bIns="121898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2400"/>
          </a:p>
        </p:txBody>
      </p:sp>
      <p:sp>
        <p:nvSpPr>
          <p:cNvPr id="1222965154" name="Google Shape;37;p9"/>
          <p:cNvSpPr txBox="1">
            <a:spLocks noGrp="1"/>
          </p:cNvSpPr>
          <p:nvPr>
            <p:ph type="title"/>
          </p:nvPr>
        </p:nvSpPr>
        <p:spPr bwMode="auto">
          <a:xfrm>
            <a:off x="353999" y="1644232"/>
            <a:ext cx="5393599" cy="1976400"/>
          </a:xfrm>
          <a:prstGeom prst="rect">
            <a:avLst/>
          </a:prstGeom>
        </p:spPr>
        <p:txBody>
          <a:bodyPr spcFirstLastPara="1" wrap="square" lIns="91423" tIns="91423" rIns="91423" bIns="91423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pPr>
              <a:defRPr/>
            </a:pPr>
            <a:endParaRPr/>
          </a:p>
        </p:txBody>
      </p:sp>
      <p:sp>
        <p:nvSpPr>
          <p:cNvPr id="1231666216" name="Google Shape;38;p9"/>
          <p:cNvSpPr txBox="1">
            <a:spLocks noGrp="1"/>
          </p:cNvSpPr>
          <p:nvPr>
            <p:ph type="subTitle" idx="1"/>
          </p:nvPr>
        </p:nvSpPr>
        <p:spPr bwMode="auto">
          <a:xfrm>
            <a:off x="353999" y="3737432"/>
            <a:ext cx="5393599" cy="16467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1200277850" name="Google Shape;39;p9"/>
          <p:cNvSpPr txBox="1">
            <a:spLocks noGrp="1"/>
          </p:cNvSpPr>
          <p:nvPr>
            <p:ph type="body" idx="2"/>
          </p:nvPr>
        </p:nvSpPr>
        <p:spPr bwMode="auto">
          <a:xfrm>
            <a:off x="6585999" y="965432"/>
            <a:ext cx="5115999" cy="4926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rmAutofit/>
          </a:bodyPr>
          <a:lstStyle>
            <a:lvl1pPr marL="609584" lvl="0" indent="-457188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69" lvl="1" indent="-42332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3" lvl="2" indent="-42332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8" lvl="3" indent="-42332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3" lvl="4" indent="-42332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8" lvl="5" indent="-42332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2" lvl="6" indent="-42332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7" lvl="7" indent="-42332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2" lvl="8" indent="-42332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2885249" name="Google Shape;40;p9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599" cy="524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12233776-6D0B-EBF5-3055-D4EA85733EE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257416" name="Google Shape;42;p10"/>
          <p:cNvSpPr txBox="1">
            <a:spLocks noGrp="1"/>
          </p:cNvSpPr>
          <p:nvPr>
            <p:ph type="body" idx="1"/>
          </p:nvPr>
        </p:nvSpPr>
        <p:spPr bwMode="auto">
          <a:xfrm>
            <a:off x="415599" y="5640766"/>
            <a:ext cx="7998400" cy="806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rmAutofit/>
          </a:bodyPr>
          <a:lstStyle>
            <a:lvl1pPr marL="609584" lvl="0" indent="-30479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98635675" name="Google Shape;43;p10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599" cy="524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449CE048-A962-8796-72F6-AFEC99DAA600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 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434695" name="Google Shape;45;p11"/>
          <p:cNvSpPr txBox="1">
            <a:spLocks noGrp="1"/>
          </p:cNvSpPr>
          <p:nvPr>
            <p:ph type="title" hasCustomPrompt="1"/>
          </p:nvPr>
        </p:nvSpPr>
        <p:spPr bwMode="auto">
          <a:xfrm>
            <a:off x="415599" y="1474832"/>
            <a:ext cx="11360800" cy="2617999"/>
          </a:xfrm>
          <a:prstGeom prst="rect">
            <a:avLst/>
          </a:prstGeom>
        </p:spPr>
        <p:txBody>
          <a:bodyPr spcFirstLastPara="1" wrap="square" lIns="91423" tIns="91423" rIns="91423" bIns="91423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716830857" name="Google Shape;46;p11"/>
          <p:cNvSpPr txBox="1">
            <a:spLocks noGrp="1"/>
          </p:cNvSpPr>
          <p:nvPr>
            <p:ph type="body" idx="1"/>
          </p:nvPr>
        </p:nvSpPr>
        <p:spPr bwMode="auto">
          <a:xfrm>
            <a:off x="415599" y="4202966"/>
            <a:ext cx="11360800" cy="1734399"/>
          </a:xfrm>
          <a:prstGeom prst="rect">
            <a:avLst/>
          </a:prstGeom>
        </p:spPr>
        <p:txBody>
          <a:bodyPr spcFirstLastPara="1" wrap="square" lIns="91423" tIns="91423" rIns="91423" bIns="91423" anchor="t" anchorCtr="0">
            <a:normAutofit/>
          </a:bodyPr>
          <a:lstStyle>
            <a:lvl1pPr marL="609584" lvl="0" indent="-457188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69" lvl="1" indent="-42332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3" lvl="2" indent="-42332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8" lvl="3" indent="-42332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3" lvl="4" indent="-42332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8" lvl="5" indent="-42332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2" lvl="6" indent="-423322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7" lvl="7" indent="-423322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2" lvl="8" indent="-42332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5395967" name="Google Shape;47;p11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599" cy="524799"/>
          </a:xfrm>
          <a:prstGeom prst="rect">
            <a:avLst/>
          </a:prstGeom>
        </p:spPr>
        <p:txBody>
          <a:bodyPr spcFirstLastPara="1" wrap="square" lIns="91423" tIns="91423" rIns="91423" bIns="91423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F12C37D2-BCC2-E613-6269-7D8B525C506A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622526" name="Titre 1"/>
          <p:cNvSpPr>
            <a:spLocks noGrp="1"/>
          </p:cNvSpPr>
          <p:nvPr>
            <p:ph type="ctrTitle"/>
          </p:nvPr>
        </p:nvSpPr>
        <p:spPr bwMode="auto">
          <a:xfrm>
            <a:off x="1523999" y="1122363"/>
            <a:ext cx="9144000" cy="2387599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33761937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167314706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7910E19-0228-3F41-6851-B6AB0EA6E7A5}" type="datetimeFigureOut">
              <a:rPr lang="fr-FR"/>
              <a:t/>
            </a:fld>
            <a:endParaRPr lang="fr-FR"/>
          </a:p>
        </p:txBody>
      </p:sp>
      <p:sp>
        <p:nvSpPr>
          <p:cNvPr id="171394343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420963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4E18567-13DA-FAB2-87C0-390672432F66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23620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619832937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039694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BEF160B-4E38-09B8-887B-7243056840B7}" type="datetimeFigureOut">
              <a:rPr lang="fr-FR"/>
              <a:t/>
            </a:fld>
            <a:endParaRPr lang="fr-FR"/>
          </a:p>
        </p:txBody>
      </p:sp>
      <p:sp>
        <p:nvSpPr>
          <p:cNvPr id="97810204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7236977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D29B68-2F66-98AC-BFB9-F1701D232B40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635168" name="Titre 1"/>
          <p:cNvSpPr>
            <a:spLocks noGrp="1"/>
          </p:cNvSpPr>
          <p:nvPr>
            <p:ph type="title"/>
          </p:nvPr>
        </p:nvSpPr>
        <p:spPr bwMode="auto">
          <a:xfrm>
            <a:off x="831849" y="1709737"/>
            <a:ext cx="10515600" cy="285273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458913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49" y="4589462"/>
            <a:ext cx="10515600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86133355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51EAA2-C16F-8FD8-61EC-ACA42CB063B4}" type="datetimeFigureOut">
              <a:rPr lang="fr-FR"/>
              <a:t/>
            </a:fld>
            <a:endParaRPr lang="fr-FR"/>
          </a:p>
        </p:txBody>
      </p:sp>
      <p:sp>
        <p:nvSpPr>
          <p:cNvPr id="74431298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8927529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16ED9E-5CE2-A0AD-06D8-0D3C27EF5374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30262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528232175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198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92256765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69979097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342624-FE0D-AB17-C2EB-92AD20C2E386}" type="datetimeFigureOut">
              <a:rPr lang="fr-FR"/>
              <a:t/>
            </a:fld>
            <a:endParaRPr lang="fr-FR"/>
          </a:p>
        </p:txBody>
      </p:sp>
      <p:sp>
        <p:nvSpPr>
          <p:cNvPr id="1263659695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2527124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8CB37BF-0D15-BF1D-38BD-445967397466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92338" name="Titr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521553284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120732671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7" y="2505073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870139888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36998928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854653030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5EDFBE8-E6FD-F17D-95B1-7E543F5882A7}" type="datetimeFigureOut">
              <a:rPr lang="fr-FR"/>
              <a:t/>
            </a:fld>
            <a:endParaRPr lang="fr-FR"/>
          </a:p>
        </p:txBody>
      </p:sp>
      <p:sp>
        <p:nvSpPr>
          <p:cNvPr id="1562786807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4695167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F00C900-2A84-5A6A-D665-43E3EBE5AB6D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68472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799579780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18CAA3B-2BB3-91A6-17CF-961BC89F18D1}" type="datetimeFigureOut">
              <a:rPr lang="fr-FR"/>
              <a:t/>
            </a:fld>
            <a:endParaRPr lang="fr-FR"/>
          </a:p>
        </p:txBody>
      </p:sp>
      <p:sp>
        <p:nvSpPr>
          <p:cNvPr id="1371828905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59002005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06C9CAE-F3C7-0B8A-877C-8BCFCD7454A1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787935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822CB77-9063-9A96-C798-C330081F6018}" type="datetimeFigureOut">
              <a:rPr lang="fr-FR"/>
              <a:t/>
            </a:fld>
            <a:endParaRPr lang="fr-FR"/>
          </a:p>
        </p:txBody>
      </p:sp>
      <p:sp>
        <p:nvSpPr>
          <p:cNvPr id="221311520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75359625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540E4A4-99DF-D638-9906-A6894BE0EDBF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617773" name="Titr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693978041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414735255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767805256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550493-26EC-05ED-0247-06053B5A92A5}" type="datetimeFigureOut">
              <a:rPr lang="fr-FR"/>
              <a:t/>
            </a:fld>
            <a:endParaRPr lang="fr-FR"/>
          </a:p>
        </p:txBody>
      </p:sp>
      <p:sp>
        <p:nvSpPr>
          <p:cNvPr id="568527221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48458433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F12EE59-B3A0-E21F-F798-878BE90D6E7C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8085087" name="Titr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632441603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fr-FR"/>
          </a:p>
        </p:txBody>
      </p:sp>
      <p:sp>
        <p:nvSpPr>
          <p:cNvPr id="360096836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651147269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224C1A7-BFE1-8DA1-34AB-2DC033B88010}" type="datetimeFigureOut">
              <a:rPr lang="fr-FR"/>
              <a:t/>
            </a:fld>
            <a:endParaRPr lang="fr-FR"/>
          </a:p>
        </p:txBody>
      </p:sp>
      <p:sp>
        <p:nvSpPr>
          <p:cNvPr id="1210001420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24561650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50CF85B-F6D6-D01E-F1FA-209270433BF4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12697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38301320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0316708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28FCEA-F817-1363-6E5A-4D122DC883E4}" type="datetimeFigureOut">
              <a:rPr lang="fr-FR"/>
              <a:t/>
            </a:fld>
            <a:endParaRPr lang="fr-FR"/>
          </a:p>
        </p:txBody>
      </p:sp>
      <p:sp>
        <p:nvSpPr>
          <p:cNvPr id="115247354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5345421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59D889C-6D00-2952-09A7-F6254A2C434C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724340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683680582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4"/>
            <a:ext cx="7734300" cy="5811837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062982918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7FF4385-3B76-019B-6FCC-131118D76D6D}" type="datetimeFigureOut">
              <a:rPr lang="fr-FR"/>
              <a:t/>
            </a:fld>
            <a:endParaRPr lang="fr-FR"/>
          </a:p>
        </p:txBody>
      </p:sp>
      <p:sp>
        <p:nvSpPr>
          <p:cNvPr id="76894992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7853311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2D3901B-6D0B-25EB-95EE-6B3B256D2D61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9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8.xml"/><Relationship Id="rId1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937819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841385884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122245131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8997E3E-5E64-4D2C-8778-38C0672080C4}" type="datetimeFigureOut">
              <a:rPr lang="fr-FR"/>
              <a:t/>
            </a:fld>
            <a:endParaRPr lang="fr-FR"/>
          </a:p>
        </p:txBody>
      </p:sp>
      <p:sp>
        <p:nvSpPr>
          <p:cNvPr id="1641821332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91561108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3634819-CD32-494A-8FD0-CBCDFC6A5E0A}" type="slidenum">
              <a:rPr lang="fr-FR"/>
              <a:t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765959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04412508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53330245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50">
                <a:solidFill>
                  <a:schemeClr val="dk2"/>
                </a:solidFill>
              </a:defRPr>
            </a:lvl1pPr>
            <a:lvl2pPr lvl="1" algn="r">
              <a:buNone/>
              <a:defRPr sz="1350">
                <a:solidFill>
                  <a:schemeClr val="dk2"/>
                </a:solidFill>
              </a:defRPr>
            </a:lvl2pPr>
            <a:lvl3pPr lvl="2" algn="r">
              <a:buNone/>
              <a:defRPr sz="1350">
                <a:solidFill>
                  <a:schemeClr val="dk2"/>
                </a:solidFill>
              </a:defRPr>
            </a:lvl3pPr>
            <a:lvl4pPr lvl="3" algn="r">
              <a:buNone/>
              <a:defRPr sz="1350">
                <a:solidFill>
                  <a:schemeClr val="dk2"/>
                </a:solidFill>
              </a:defRPr>
            </a:lvl4pPr>
            <a:lvl5pPr lvl="4" algn="r">
              <a:buNone/>
              <a:defRPr sz="1350">
                <a:solidFill>
                  <a:schemeClr val="dk2"/>
                </a:solidFill>
              </a:defRPr>
            </a:lvl5pPr>
            <a:lvl6pPr lvl="5" algn="r">
              <a:buNone/>
              <a:defRPr sz="1350">
                <a:solidFill>
                  <a:schemeClr val="dk2"/>
                </a:solidFill>
              </a:defRPr>
            </a:lvl6pPr>
            <a:lvl7pPr lvl="6" algn="r">
              <a:buNone/>
              <a:defRPr sz="1350">
                <a:solidFill>
                  <a:schemeClr val="dk2"/>
                </a:solidFill>
              </a:defRPr>
            </a:lvl7pPr>
            <a:lvl8pPr lvl="7" algn="r">
              <a:buNone/>
              <a:defRPr sz="1350">
                <a:solidFill>
                  <a:schemeClr val="dk2"/>
                </a:solidFill>
              </a:defRPr>
            </a:lvl8pPr>
            <a:lvl9pPr lvl="8" algn="r">
              <a:buNone/>
              <a:defRPr sz="1350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fld id="{00000000-1234-1234-1234-123412341234}" type="slidenum">
              <a:rPr lang="fr-FR"/>
              <a:t/>
            </a:fld>
            <a:endParaRPr lang="fr-F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100345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415599" y="593366"/>
            <a:ext cx="11360800" cy="76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82760302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415599" y="1536633"/>
            <a:ext cx="11360800" cy="4555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499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499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499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499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499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499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499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499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15867581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11296611" y="6217623"/>
            <a:ext cx="731599" cy="52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91423" rIns="91423" bIns="91423" anchor="ctr" anchorCtr="0">
            <a:normAutofit/>
          </a:bodyPr>
          <a:lstStyle>
            <a:lvl1pPr lvl="0" algn="r">
              <a:buNone/>
              <a:defRPr sz="1350">
                <a:solidFill>
                  <a:schemeClr val="dk2"/>
                </a:solidFill>
              </a:defRPr>
            </a:lvl1pPr>
            <a:lvl2pPr lvl="1" algn="r">
              <a:buNone/>
              <a:defRPr sz="1350">
                <a:solidFill>
                  <a:schemeClr val="dk2"/>
                </a:solidFill>
              </a:defRPr>
            </a:lvl2pPr>
            <a:lvl3pPr lvl="2" algn="r">
              <a:buNone/>
              <a:defRPr sz="1350">
                <a:solidFill>
                  <a:schemeClr val="dk2"/>
                </a:solidFill>
              </a:defRPr>
            </a:lvl3pPr>
            <a:lvl4pPr lvl="3" algn="r">
              <a:buNone/>
              <a:defRPr sz="1350">
                <a:solidFill>
                  <a:schemeClr val="dk2"/>
                </a:solidFill>
              </a:defRPr>
            </a:lvl4pPr>
            <a:lvl5pPr lvl="4" algn="r">
              <a:buNone/>
              <a:defRPr sz="1350">
                <a:solidFill>
                  <a:schemeClr val="dk2"/>
                </a:solidFill>
              </a:defRPr>
            </a:lvl5pPr>
            <a:lvl6pPr lvl="5" algn="r">
              <a:buNone/>
              <a:defRPr sz="1350">
                <a:solidFill>
                  <a:schemeClr val="dk2"/>
                </a:solidFill>
              </a:defRPr>
            </a:lvl6pPr>
            <a:lvl7pPr lvl="6" algn="r">
              <a:buNone/>
              <a:defRPr sz="1350">
                <a:solidFill>
                  <a:schemeClr val="dk2"/>
                </a:solidFill>
              </a:defRPr>
            </a:lvl7pPr>
            <a:lvl8pPr lvl="7" algn="r">
              <a:buNone/>
              <a:defRPr sz="1350">
                <a:solidFill>
                  <a:schemeClr val="dk2"/>
                </a:solidFill>
              </a:defRPr>
            </a:lvl8pPr>
            <a:lvl9pPr lvl="8" algn="r">
              <a:buNone/>
              <a:defRPr sz="1350">
                <a:solidFill>
                  <a:schemeClr val="dk2"/>
                </a:solidFill>
              </a:defRPr>
            </a:lvl9pPr>
          </a:lstStyle>
          <a:p>
            <a:pPr>
              <a:defRPr/>
            </a:pPr>
            <a:fld id="{9DCF43A3-BAA0-3935-7054-C6B16BCB9511}" type="slidenum">
              <a:rPr lang="fr-FR"/>
              <a:t/>
            </a:fld>
            <a:endParaRPr lang="fr-F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5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391463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04272301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198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708059133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1E3CBFE-379D-F399-7881-BFC96D76FCFF}" type="datetimeFigureOut">
              <a:rPr lang="fr-FR"/>
              <a:t/>
            </a:fld>
            <a:endParaRPr lang="fr-FR"/>
          </a:p>
        </p:txBody>
      </p:sp>
      <p:sp>
        <p:nvSpPr>
          <p:cNvPr id="833275798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6555137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D15D03F-E582-ECEB-5BD0-05661B964247}" type="slidenum">
              <a:rPr lang="fr-FR"/>
              <a:t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sparna-git/xls2rdf" TargetMode="External"/><Relationship Id="rId4" Type="http://schemas.openxmlformats.org/officeDocument/2006/relationships/hyperlink" Target="https://skos-play.sparna.fr/play/convert" TargetMode="External"/><Relationship Id="rId5" Type="http://schemas.openxmlformats.org/officeDocument/2006/relationships/hyperlink" Target="https://xls2rdf.sparna.fr/rest/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xls2rdf.sparna.fr/rest/doc.html" TargetMode="External"/><Relationship Id="rId4" Type="http://schemas.openxmlformats.org/officeDocument/2006/relationships/hyperlink" Target="https://skos-play.sparna.fr/play/convert" TargetMode="External"/><Relationship Id="rId5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xls2rdf.sparna.fr/rest" TargetMode="Externa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shacl-play.sparna.fr/play/shaclexcel" TargetMode="Externa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xls2rdf.sparna.fr/rest/doc.html#specific-support-for-shacl-logical-operators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615863" name="Titr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fr-FR"/>
              <a:t>Xls2rdf : editing RDF, SKOS, OWL, SHACL in Excel</a:t>
            </a:r>
            <a:endParaRPr lang="fr-FR"/>
          </a:p>
        </p:txBody>
      </p:sp>
      <p:sp>
        <p:nvSpPr>
          <p:cNvPr id="1005769795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4255806"/>
            <a:ext cx="9144000" cy="1001994"/>
          </a:xfrm>
        </p:spPr>
        <p:txBody>
          <a:bodyPr/>
          <a:lstStyle/>
          <a:p>
            <a:pPr>
              <a:defRPr/>
            </a:pPr>
            <a:r>
              <a:rPr/>
              <a:t>Thomas Francart, Sparna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206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296669" name="Google Shape;66;p15"/>
          <p:cNvSpPr txBox="1">
            <a:spLocks noGrp="1"/>
          </p:cNvSpPr>
          <p:nvPr>
            <p:ph type="title"/>
          </p:nvPr>
        </p:nvSpPr>
        <p:spPr bwMode="auto">
          <a:xfrm>
            <a:off x="415600" y="2739467"/>
            <a:ext cx="11360800" cy="1449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defRPr/>
            </a:pPr>
            <a:r>
              <a:rPr lang="fr" sz="7200">
                <a:solidFill>
                  <a:schemeClr val="lt1"/>
                </a:solidFill>
                <a:latin typeface="Century Gothic"/>
              </a:rPr>
              <a:t>xls2rdf</a:t>
            </a:r>
            <a:endParaRPr sz="7200">
              <a:solidFill>
                <a:schemeClr val="lt1"/>
              </a:solidFill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60866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What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</a:t>
            </a:r>
            <a:r>
              <a:rPr lang="fr-FR" b="1"/>
              <a:t>xls2rdf</a:t>
            </a:r>
            <a:r>
              <a:rPr lang="fr-FR"/>
              <a:t> ?</a:t>
            </a:r>
            <a:endParaRPr/>
          </a:p>
        </p:txBody>
      </p:sp>
      <p:sp>
        <p:nvSpPr>
          <p:cNvPr id="1350273278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825624"/>
            <a:ext cx="10515600" cy="492061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fr-FR" sz="4000" i="1"/>
              <a:t>« An open-source Java </a:t>
            </a:r>
            <a:r>
              <a:rPr lang="fr-FR" sz="4000" i="1"/>
              <a:t>library</a:t>
            </a:r>
            <a:r>
              <a:rPr lang="fr-FR" sz="4000" i="1"/>
              <a:t> </a:t>
            </a:r>
            <a:r>
              <a:rPr lang="fr-FR" sz="4000" i="1"/>
              <a:t>that</a:t>
            </a:r>
            <a:r>
              <a:rPr lang="fr-FR" sz="4000" i="1"/>
              <a:t> can </a:t>
            </a:r>
            <a:r>
              <a:rPr lang="fr-FR" sz="4000" i="1"/>
              <a:t>produce</a:t>
            </a:r>
            <a:r>
              <a:rPr lang="fr-FR" sz="4000" i="1"/>
              <a:t> RDF data </a:t>
            </a:r>
            <a:r>
              <a:rPr lang="fr-FR" sz="4000" i="1"/>
              <a:t>from</a:t>
            </a:r>
            <a:r>
              <a:rPr lang="fr-FR" sz="4000" i="1"/>
              <a:t> Excel files </a:t>
            </a:r>
            <a:r>
              <a:rPr lang="fr-FR" sz="4000" i="1"/>
              <a:t>that</a:t>
            </a:r>
            <a:r>
              <a:rPr lang="fr-FR" sz="4000" i="1"/>
              <a:t> follow a certain structure »</a:t>
            </a:r>
            <a:endParaRPr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Official </a:t>
            </a:r>
            <a:r>
              <a:rPr lang="fr-FR"/>
              <a:t>project</a:t>
            </a:r>
            <a:r>
              <a:rPr lang="fr-FR"/>
              <a:t> repository : </a:t>
            </a:r>
            <a:r>
              <a:rPr lang="fr-FR" u="sng">
                <a:hlinkClick r:id="rId3" tooltip="https://github.com/sparna-git/xls2rdf"/>
              </a:rPr>
              <a:t>https://github.com/sparna-git/xls2rdf</a:t>
            </a:r>
            <a:r>
              <a:rPr lang="fr-FR"/>
              <a:t> </a:t>
            </a:r>
            <a:endParaRPr/>
          </a:p>
          <a:p>
            <a:pPr>
              <a:defRPr/>
            </a:pPr>
            <a:r>
              <a:rPr lang="fr-FR"/>
              <a:t>xls2rdf </a:t>
            </a:r>
            <a:r>
              <a:rPr lang="fr-FR"/>
              <a:t>comes</a:t>
            </a:r>
            <a:r>
              <a:rPr lang="fr-FR"/>
              <a:t> in 4 « packages » :</a:t>
            </a:r>
            <a:endParaRPr/>
          </a:p>
          <a:p>
            <a:pPr lvl="1">
              <a:defRPr/>
            </a:pPr>
            <a:r>
              <a:rPr lang="fr-FR"/>
              <a:t>As a Java </a:t>
            </a:r>
            <a:r>
              <a:rPr lang="fr-FR"/>
              <a:t>library</a:t>
            </a:r>
            <a:r>
              <a:rPr lang="fr-FR"/>
              <a:t> </a:t>
            </a:r>
            <a:r>
              <a:rPr lang="fr-FR"/>
              <a:t>that</a:t>
            </a:r>
            <a:r>
              <a:rPr lang="fr-FR"/>
              <a:t> can </a:t>
            </a:r>
            <a:r>
              <a:rPr lang="fr-FR"/>
              <a:t>integrated</a:t>
            </a:r>
            <a:r>
              <a:rPr lang="fr-FR"/>
              <a:t> in applications</a:t>
            </a:r>
            <a:endParaRPr/>
          </a:p>
          <a:p>
            <a:pPr lvl="1">
              <a:defRPr/>
            </a:pPr>
            <a:r>
              <a:rPr lang="fr-FR"/>
              <a:t>As a command-line </a:t>
            </a:r>
            <a:r>
              <a:rPr lang="fr-FR"/>
              <a:t>tool</a:t>
            </a:r>
            <a:endParaRPr lang="fr-FR"/>
          </a:p>
          <a:p>
            <a:pPr lvl="1">
              <a:defRPr/>
            </a:pPr>
            <a:r>
              <a:rPr lang="fr-FR"/>
              <a:t>As a web </a:t>
            </a:r>
            <a:r>
              <a:rPr lang="fr-FR"/>
              <a:t>tool</a:t>
            </a:r>
            <a:r>
              <a:rPr lang="fr-FR"/>
              <a:t> part of the SKOS-Play suite : </a:t>
            </a:r>
            <a:r>
              <a:rPr lang="fr-FR" u="sng">
                <a:hlinkClick r:id="rId4" tooltip="https://skos-play.sparna.fr/play/convert"/>
              </a:rPr>
              <a:t>https://skos-play.sparna.fr/play/convert</a:t>
            </a:r>
            <a:r>
              <a:rPr lang="fr-FR"/>
              <a:t> </a:t>
            </a:r>
            <a:endParaRPr lang="fr-FR"/>
          </a:p>
          <a:p>
            <a:pPr lvl="1">
              <a:defRPr/>
            </a:pPr>
            <a:r>
              <a:rPr lang="fr-FR"/>
              <a:t>As an online open API at </a:t>
            </a:r>
            <a:r>
              <a:rPr lang="fr-FR" sz="2000" b="0" i="0" u="sng" strike="noStrike" cap="none" spc="0">
                <a:solidFill>
                  <a:schemeClr val="tx1"/>
                </a:solidFill>
                <a:latin typeface="Calibri"/>
                <a:cs typeface="Calibri"/>
                <a:hlinkClick r:id="rId5" tooltip="https://xls2rdf.sparna.fr/rest/"/>
              </a:rPr>
              <a:t>https://xls2rdf.sparna.fr/rest/</a:t>
            </a:r>
            <a:r>
              <a:rPr lang="fr-FR"/>
              <a:t> </a:t>
            </a:r>
            <a:endParaRPr/>
          </a:p>
          <a:p>
            <a:pPr>
              <a:defRPr/>
            </a:pPr>
            <a:r>
              <a:rPr lang="fr-FR"/>
              <a:t>Historically</a:t>
            </a:r>
            <a:r>
              <a:rPr lang="fr-FR"/>
              <a:t>, </a:t>
            </a:r>
            <a:r>
              <a:rPr lang="fr-FR"/>
              <a:t>it</a:t>
            </a:r>
            <a:r>
              <a:rPr lang="fr-FR"/>
              <a:t> </a:t>
            </a:r>
            <a:r>
              <a:rPr lang="fr-FR"/>
              <a:t>was</a:t>
            </a:r>
            <a:r>
              <a:rPr lang="fr-FR"/>
              <a:t> made to </a:t>
            </a:r>
            <a:r>
              <a:rPr lang="fr-FR"/>
              <a:t>produce</a:t>
            </a:r>
            <a:r>
              <a:rPr lang="fr-FR"/>
              <a:t> </a:t>
            </a:r>
            <a:r>
              <a:rPr lang="fr-FR"/>
              <a:t>only</a:t>
            </a:r>
            <a:r>
              <a:rPr lang="fr-FR"/>
              <a:t> SKOS, but has been </a:t>
            </a:r>
            <a:r>
              <a:rPr lang="fr-FR"/>
              <a:t>generalized</a:t>
            </a:r>
            <a:r>
              <a:rPr lang="fr-FR"/>
              <a:t> to </a:t>
            </a:r>
            <a:r>
              <a:rPr lang="fr-FR"/>
              <a:t>produce</a:t>
            </a:r>
            <a:r>
              <a:rPr lang="fr-FR"/>
              <a:t> </a:t>
            </a:r>
            <a:r>
              <a:rPr lang="fr-FR"/>
              <a:t>any</a:t>
            </a:r>
            <a:r>
              <a:rPr lang="fr-FR"/>
              <a:t> RDF data</a:t>
            </a:r>
            <a:endParaRPr/>
          </a:p>
          <a:p>
            <a:pPr lvl="1">
              <a:defRPr/>
            </a:pPr>
            <a:r>
              <a:rPr lang="fr-FR"/>
              <a:t>It </a:t>
            </a:r>
            <a:r>
              <a:rPr lang="fr-FR"/>
              <a:t>contains</a:t>
            </a:r>
            <a:r>
              <a:rPr lang="fr-FR"/>
              <a:t> </a:t>
            </a:r>
            <a:r>
              <a:rPr lang="fr-FR"/>
              <a:t>some</a:t>
            </a:r>
            <a:r>
              <a:rPr lang="fr-FR"/>
              <a:t> SKOS-</a:t>
            </a:r>
            <a:r>
              <a:rPr lang="fr-FR"/>
              <a:t>specific</a:t>
            </a:r>
            <a:r>
              <a:rPr lang="fr-FR"/>
              <a:t> « </a:t>
            </a:r>
            <a:r>
              <a:rPr lang="fr-FR"/>
              <a:t>processings</a:t>
            </a:r>
            <a:r>
              <a:rPr lang="fr-FR"/>
              <a:t> 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064763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Use-cases</a:t>
            </a:r>
            <a:endParaRPr/>
          </a:p>
        </p:txBody>
      </p:sp>
      <p:sp>
        <p:nvSpPr>
          <p:cNvPr id="2142581498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198" y="1825623"/>
            <a:ext cx="10515600" cy="492061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/>
              <a:t>Manually edit RDF datasets</a:t>
            </a:r>
            <a:endParaRPr/>
          </a:p>
          <a:p>
            <a:pPr lvl="1">
              <a:defRPr/>
            </a:pPr>
            <a:r>
              <a:rPr/>
              <a:t>Controlled lists, vocabularies, etc.</a:t>
            </a:r>
            <a:endParaRPr/>
          </a:p>
          <a:p>
            <a:pPr lvl="0">
              <a:defRPr/>
            </a:pPr>
            <a:r>
              <a:rPr/>
              <a:t>Convert tabular datasets</a:t>
            </a:r>
            <a:endParaRPr/>
          </a:p>
          <a:p>
            <a:pPr lvl="1">
              <a:defRPr/>
            </a:pPr>
            <a:r>
              <a:rPr/>
              <a:t>After a manual intervention to set the proper headers in the file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81761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Xls2rdf Documentation</a:t>
            </a:r>
            <a:endParaRPr/>
          </a:p>
        </p:txBody>
      </p:sp>
      <p:sp>
        <p:nvSpPr>
          <p:cNvPr id="451589712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All the documentation on how to structure the Excel file </a:t>
            </a:r>
            <a:r>
              <a:rPr lang="fr-FR"/>
              <a:t>is</a:t>
            </a:r>
            <a:r>
              <a:rPr lang="fr-FR"/>
              <a:t> online : </a:t>
            </a:r>
            <a:r>
              <a:rPr lang="fr-FR" sz="2800" b="0" i="0" u="sng" strike="noStrike" cap="none" spc="0">
                <a:solidFill>
                  <a:schemeClr val="tx1"/>
                </a:solidFill>
                <a:latin typeface="Calibri"/>
                <a:cs typeface="Calibri"/>
                <a:hlinkClick r:id="rId3" tooltip="https://xls2rdf.sparna.fr/rest/doc.html"/>
              </a:rPr>
              <a:t>https://xls2rdf.sparna.fr/rest/doc.html</a:t>
            </a:r>
            <a:r>
              <a:rPr/>
              <a:t> </a:t>
            </a:r>
            <a:endParaRPr/>
          </a:p>
          <a:p>
            <a:pPr>
              <a:defRPr/>
            </a:pPr>
            <a:r>
              <a:rPr lang="fr-FR"/>
              <a:t>Also</a:t>
            </a:r>
            <a:r>
              <a:rPr lang="fr-FR"/>
              <a:t> look at </a:t>
            </a:r>
            <a:r>
              <a:rPr lang="fr-FR"/>
              <a:t>included</a:t>
            </a:r>
            <a:r>
              <a:rPr lang="fr-FR"/>
              <a:t> </a:t>
            </a:r>
            <a:r>
              <a:rPr lang="fr-FR"/>
              <a:t>example</a:t>
            </a:r>
            <a:r>
              <a:rPr lang="fr-FR"/>
              <a:t> files at </a:t>
            </a:r>
            <a:r>
              <a:rPr lang="fr-FR" sz="2800" b="0" i="0" u="sng" strike="noStrike" cap="none" spc="0">
                <a:solidFill>
                  <a:schemeClr val="tx1"/>
                </a:solidFill>
                <a:latin typeface="Calibri"/>
                <a:cs typeface="Calibri"/>
                <a:hlinkClick r:id="rId4" tooltip="https://skos-play.sparna.fr/play/convert"/>
              </a:rPr>
              <a:t>https://skos-play.sparna.fr/play/convert</a:t>
            </a:r>
            <a:r>
              <a:rPr lang="fr-FR"/>
              <a:t> </a:t>
            </a:r>
            <a:endParaRPr/>
          </a:p>
        </p:txBody>
      </p:sp>
      <p:pic>
        <p:nvPicPr>
          <p:cNvPr id="1760465577" name="Image 4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520640" y="3429000"/>
            <a:ext cx="7085210" cy="3063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85431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Some</a:t>
            </a:r>
            <a:r>
              <a:rPr lang="fr-FR"/>
              <a:t> </a:t>
            </a:r>
            <a:r>
              <a:rPr lang="fr-FR"/>
              <a:t>general</a:t>
            </a:r>
            <a:r>
              <a:rPr lang="fr-FR"/>
              <a:t> </a:t>
            </a:r>
            <a:r>
              <a:rPr lang="fr-FR"/>
              <a:t>rules</a:t>
            </a:r>
            <a:endParaRPr lang="fr-FR"/>
          </a:p>
        </p:txBody>
      </p:sp>
      <p:sp>
        <p:nvSpPr>
          <p:cNvPr id="103183251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All </a:t>
            </a:r>
            <a:r>
              <a:rPr lang="fr-FR"/>
              <a:t>tabs</a:t>
            </a:r>
            <a:r>
              <a:rPr lang="fr-FR"/>
              <a:t> are </a:t>
            </a:r>
            <a:r>
              <a:rPr lang="fr-FR"/>
              <a:t>converted</a:t>
            </a:r>
            <a:r>
              <a:rPr lang="fr-FR"/>
              <a:t> (if </a:t>
            </a:r>
            <a:r>
              <a:rPr lang="fr-FR"/>
              <a:t>they</a:t>
            </a:r>
            <a:r>
              <a:rPr lang="fr-FR"/>
              <a:t> follow the structure – if </a:t>
            </a:r>
            <a:r>
              <a:rPr lang="fr-FR"/>
              <a:t>they</a:t>
            </a:r>
            <a:r>
              <a:rPr lang="fr-FR"/>
              <a:t> </a:t>
            </a:r>
            <a:r>
              <a:rPr lang="fr-FR"/>
              <a:t>don’t</a:t>
            </a:r>
            <a:r>
              <a:rPr lang="fr-FR"/>
              <a:t> </a:t>
            </a:r>
            <a:r>
              <a:rPr lang="fr-FR"/>
              <a:t>they</a:t>
            </a:r>
            <a:r>
              <a:rPr lang="fr-FR"/>
              <a:t> are </a:t>
            </a:r>
            <a:r>
              <a:rPr lang="fr-FR"/>
              <a:t>ignored</a:t>
            </a:r>
            <a:r>
              <a:rPr lang="fr-FR"/>
              <a:t>)</a:t>
            </a:r>
            <a:endParaRPr/>
          </a:p>
          <a:p>
            <a:pPr>
              <a:defRPr/>
            </a:pPr>
            <a:r>
              <a:rPr lang="fr-FR"/>
              <a:t>Formatting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</a:t>
            </a:r>
            <a:r>
              <a:rPr lang="fr-FR"/>
              <a:t>ignored</a:t>
            </a:r>
            <a:r>
              <a:rPr lang="fr-FR"/>
              <a:t> </a:t>
            </a:r>
            <a:r>
              <a:rPr lang="fr-FR"/>
              <a:t>except</a:t>
            </a:r>
            <a:r>
              <a:rPr lang="fr-FR"/>
              <a:t> </a:t>
            </a:r>
            <a:r>
              <a:rPr lang="fr-FR" strike="sngStrike"/>
              <a:t>striketrough</a:t>
            </a:r>
            <a:r>
              <a:rPr lang="fr-FR"/>
              <a:t>, </a:t>
            </a:r>
            <a:r>
              <a:rPr lang="fr-FR"/>
              <a:t>you</a:t>
            </a:r>
            <a:r>
              <a:rPr lang="fr-FR"/>
              <a:t> can </a:t>
            </a:r>
            <a:r>
              <a:rPr lang="fr-FR"/>
              <a:t>apply</a:t>
            </a:r>
            <a:r>
              <a:rPr lang="fr-FR"/>
              <a:t> </a:t>
            </a:r>
            <a:r>
              <a:rPr lang="fr-FR"/>
              <a:t>any</a:t>
            </a:r>
            <a:r>
              <a:rPr lang="fr-FR"/>
              <a:t> </a:t>
            </a:r>
            <a:r>
              <a:rPr lang="fr-FR"/>
              <a:t>color</a:t>
            </a:r>
            <a:r>
              <a:rPr lang="fr-FR"/>
              <a:t>/fonts in the file</a:t>
            </a:r>
            <a:endParaRPr/>
          </a:p>
          <a:p>
            <a:pPr>
              <a:defRPr/>
            </a:pPr>
            <a:r>
              <a:rPr lang="fr-FR"/>
              <a:t>All formulas can </a:t>
            </a:r>
            <a:r>
              <a:rPr lang="fr-FR"/>
              <a:t>be</a:t>
            </a:r>
            <a:r>
              <a:rPr lang="fr-FR"/>
              <a:t> </a:t>
            </a:r>
            <a:r>
              <a:rPr lang="fr-FR"/>
              <a:t>used</a:t>
            </a:r>
            <a:r>
              <a:rPr lang="fr-FR"/>
              <a:t> to </a:t>
            </a:r>
            <a:r>
              <a:rPr lang="fr-FR"/>
              <a:t>compute</a:t>
            </a:r>
            <a:r>
              <a:rPr lang="fr-FR"/>
              <a:t> the </a:t>
            </a:r>
            <a:r>
              <a:rPr lang="fr-FR"/>
              <a:t>cell</a:t>
            </a:r>
            <a:r>
              <a:rPr lang="fr-FR"/>
              <a:t> values</a:t>
            </a:r>
            <a:endParaRPr/>
          </a:p>
          <a:p>
            <a:pPr>
              <a:defRPr/>
            </a:pPr>
            <a:r>
              <a:rPr lang="fr-FR"/>
              <a:t>Only</a:t>
            </a:r>
            <a:r>
              <a:rPr lang="fr-FR"/>
              <a:t> visible </a:t>
            </a:r>
            <a:r>
              <a:rPr lang="fr-FR"/>
              <a:t>cells</a:t>
            </a:r>
            <a:r>
              <a:rPr lang="fr-FR"/>
              <a:t> are </a:t>
            </a:r>
            <a:r>
              <a:rPr lang="fr-FR"/>
              <a:t>converted</a:t>
            </a:r>
            <a:r>
              <a:rPr lang="fr-FR"/>
              <a:t> (</a:t>
            </a:r>
            <a:r>
              <a:rPr lang="fr-FR"/>
              <a:t>so</a:t>
            </a:r>
            <a:r>
              <a:rPr lang="fr-FR"/>
              <a:t> </a:t>
            </a:r>
            <a:r>
              <a:rPr lang="fr-FR"/>
              <a:t>that</a:t>
            </a:r>
            <a:r>
              <a:rPr lang="fr-FR"/>
              <a:t> </a:t>
            </a:r>
            <a:r>
              <a:rPr lang="fr-FR"/>
              <a:t>you</a:t>
            </a:r>
            <a:r>
              <a:rPr lang="fr-FR"/>
              <a:t> can </a:t>
            </a:r>
            <a:r>
              <a:rPr lang="fr-FR"/>
              <a:t>filter</a:t>
            </a:r>
            <a:r>
              <a:rPr lang="fr-FR"/>
              <a:t> </a:t>
            </a:r>
            <a:r>
              <a:rPr lang="fr-FR"/>
              <a:t>only</a:t>
            </a:r>
            <a:r>
              <a:rPr lang="fr-FR"/>
              <a:t> </a:t>
            </a:r>
            <a:r>
              <a:rPr lang="fr-FR"/>
              <a:t>row</a:t>
            </a:r>
            <a:r>
              <a:rPr lang="fr-FR"/>
              <a:t> </a:t>
            </a:r>
            <a:r>
              <a:rPr lang="fr-FR"/>
              <a:t>you</a:t>
            </a:r>
            <a:r>
              <a:rPr lang="fr-FR"/>
              <a:t> </a:t>
            </a:r>
            <a:r>
              <a:rPr lang="fr-FR"/>
              <a:t>want</a:t>
            </a:r>
            <a:r>
              <a:rPr lang="fr-FR"/>
              <a:t> to </a:t>
            </a:r>
            <a:r>
              <a:rPr lang="fr-FR"/>
              <a:t>convert</a:t>
            </a:r>
            <a:r>
              <a:rPr lang="fr-FR"/>
              <a:t>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25097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Header &amp; Body</a:t>
            </a:r>
            <a:endParaRPr/>
          </a:p>
        </p:txBody>
      </p:sp>
      <p:sp>
        <p:nvSpPr>
          <p:cNvPr id="2138236965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2147252" cy="4351338"/>
          </a:xfrm>
        </p:spPr>
        <p:txBody>
          <a:bodyPr/>
          <a:lstStyle/>
          <a:p>
            <a:pPr>
              <a:defRPr/>
            </a:pPr>
            <a:r>
              <a:rPr lang="fr-FR"/>
              <a:t>Header</a:t>
            </a:r>
            <a:endParaRPr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« Magic line » </a:t>
            </a:r>
            <a:r>
              <a:rPr lang="fr-FR" sz="2000"/>
              <a:t>/ « </a:t>
            </a:r>
            <a:r>
              <a:rPr lang="fr-FR" sz="2000"/>
              <a:t>title</a:t>
            </a:r>
            <a:r>
              <a:rPr lang="fr-FR" sz="2000"/>
              <a:t> </a:t>
            </a:r>
            <a:r>
              <a:rPr lang="fr-FR" sz="2000"/>
              <a:t>row</a:t>
            </a:r>
            <a:r>
              <a:rPr lang="fr-FR" sz="2000"/>
              <a:t> »</a:t>
            </a:r>
            <a:endParaRPr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Body</a:t>
            </a:r>
            <a:endParaRPr/>
          </a:p>
        </p:txBody>
      </p:sp>
      <p:pic>
        <p:nvPicPr>
          <p:cNvPr id="1076252235" name="Imag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22307" y="1690688"/>
            <a:ext cx="8429625" cy="4410075"/>
          </a:xfrm>
          <a:prstGeom prst="rect">
            <a:avLst/>
          </a:prstGeom>
        </p:spPr>
      </p:pic>
      <p:sp>
        <p:nvSpPr>
          <p:cNvPr id="37495375" name="Rectangle 4"/>
          <p:cNvSpPr/>
          <p:nvPr/>
        </p:nvSpPr>
        <p:spPr bwMode="auto">
          <a:xfrm>
            <a:off x="3139440" y="1570036"/>
            <a:ext cx="8666480" cy="132556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63298779" name="Rectangle 5"/>
          <p:cNvSpPr/>
          <p:nvPr/>
        </p:nvSpPr>
        <p:spPr bwMode="auto">
          <a:xfrm>
            <a:off x="3139440" y="3016252"/>
            <a:ext cx="8666480" cy="20446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92590186" name="Rectangle 6"/>
          <p:cNvSpPr/>
          <p:nvPr/>
        </p:nvSpPr>
        <p:spPr bwMode="auto">
          <a:xfrm>
            <a:off x="3139440" y="3326766"/>
            <a:ext cx="8666480" cy="225107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20612825" name="Flèche : droite 7"/>
          <p:cNvSpPr/>
          <p:nvPr/>
        </p:nvSpPr>
        <p:spPr bwMode="auto">
          <a:xfrm>
            <a:off x="2380933" y="1876584"/>
            <a:ext cx="640079" cy="416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18758725" name="Flèche : droite 8"/>
          <p:cNvSpPr/>
          <p:nvPr/>
        </p:nvSpPr>
        <p:spPr bwMode="auto">
          <a:xfrm>
            <a:off x="2412207" y="2895600"/>
            <a:ext cx="640079" cy="416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121940682" name="Flèche : droite 9"/>
          <p:cNvSpPr/>
          <p:nvPr/>
        </p:nvSpPr>
        <p:spPr bwMode="auto">
          <a:xfrm>
            <a:off x="2363153" y="4559618"/>
            <a:ext cx="640079" cy="416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0359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To </a:t>
            </a:r>
            <a:r>
              <a:rPr lang="fr-FR"/>
              <a:t>be</a:t>
            </a:r>
            <a:r>
              <a:rPr lang="fr-FR"/>
              <a:t> </a:t>
            </a:r>
            <a:r>
              <a:rPr lang="fr-FR"/>
              <a:t>converted</a:t>
            </a:r>
            <a:r>
              <a:rPr lang="fr-FR"/>
              <a:t>, a tab MUST…</a:t>
            </a:r>
            <a:endParaRPr/>
          </a:p>
        </p:txBody>
      </p:sp>
      <p:sp>
        <p:nvSpPr>
          <p:cNvPr id="1028651304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198" y="1825625"/>
            <a:ext cx="4669449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fr-FR"/>
              <a:t>Contain</a:t>
            </a:r>
            <a:r>
              <a:rPr lang="fr-FR"/>
              <a:t> a URI in </a:t>
            </a:r>
            <a:r>
              <a:rPr lang="fr-FR"/>
              <a:t>cell</a:t>
            </a:r>
            <a:r>
              <a:rPr lang="fr-FR"/>
              <a:t> B1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fr-FR"/>
              <a:t>Declare</a:t>
            </a:r>
            <a:r>
              <a:rPr lang="fr-FR"/>
              <a:t> a « Magic </a:t>
            </a:r>
            <a:r>
              <a:rPr lang="fr-FR"/>
              <a:t>row</a:t>
            </a:r>
            <a:r>
              <a:rPr lang="fr-FR"/>
              <a:t> » at </a:t>
            </a:r>
            <a:r>
              <a:rPr lang="fr-FR"/>
              <a:t>any</a:t>
            </a:r>
            <a:r>
              <a:rPr lang="fr-FR"/>
              <a:t> </a:t>
            </a:r>
            <a:r>
              <a:rPr lang="fr-FR"/>
              <a:t>row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 i="1"/>
              <a:t>either</a:t>
            </a:r>
            <a:r>
              <a:rPr lang="fr-FR"/>
              <a:t> :</a:t>
            </a:r>
            <a:endParaRPr/>
          </a:p>
          <a:p>
            <a:pPr marL="971550" lvl="1" indent="-514350">
              <a:buFont typeface="+mj-lt"/>
              <a:buAutoNum type="arabicPeriod"/>
              <a:defRPr/>
            </a:pPr>
            <a:r>
              <a:rPr lang="fr-FR"/>
              <a:t>At least 2 </a:t>
            </a:r>
            <a:r>
              <a:rPr lang="fr-FR"/>
              <a:t>columns</a:t>
            </a:r>
            <a:r>
              <a:rPr lang="fr-FR"/>
              <a:t> in the first 10 </a:t>
            </a:r>
            <a:r>
              <a:rPr lang="fr-FR"/>
              <a:t>columns</a:t>
            </a:r>
            <a:r>
              <a:rPr lang="fr-FR"/>
              <a:t> </a:t>
            </a:r>
            <a:r>
              <a:rPr lang="fr-FR"/>
              <a:t>starting</a:t>
            </a:r>
            <a:r>
              <a:rPr lang="fr-FR"/>
              <a:t> </a:t>
            </a:r>
            <a:r>
              <a:rPr lang="fr-FR"/>
              <a:t>from</a:t>
            </a:r>
            <a:r>
              <a:rPr lang="fr-FR"/>
              <a:t> </a:t>
            </a:r>
            <a:r>
              <a:rPr lang="fr-FR"/>
              <a:t>column</a:t>
            </a:r>
            <a:r>
              <a:rPr lang="fr-FR"/>
              <a:t> B </a:t>
            </a:r>
            <a:r>
              <a:rPr lang="fr-FR"/>
              <a:t>that</a:t>
            </a:r>
            <a:r>
              <a:rPr lang="fr-FR"/>
              <a:t> </a:t>
            </a:r>
            <a:r>
              <a:rPr lang="fr-FR"/>
              <a:t>declare</a:t>
            </a:r>
            <a:r>
              <a:rPr lang="fr-FR"/>
              <a:t> a </a:t>
            </a:r>
            <a:r>
              <a:rPr lang="fr-FR"/>
              <a:t>property</a:t>
            </a:r>
            <a:r>
              <a:rPr lang="fr-FR"/>
              <a:t> URI</a:t>
            </a:r>
            <a:endParaRPr/>
          </a:p>
          <a:p>
            <a:pPr marL="971550" lvl="1" indent="-514350">
              <a:buFont typeface="+mj-lt"/>
              <a:buAutoNum type="arabicPeriod"/>
              <a:defRPr/>
            </a:pPr>
            <a:r>
              <a:rPr lang="fr-FR"/>
              <a:t>Or if not </a:t>
            </a:r>
            <a:r>
              <a:rPr lang="fr-FR"/>
              <a:t>found</a:t>
            </a:r>
            <a:r>
              <a:rPr lang="fr-FR"/>
              <a:t>, the string « URI » or « IRI » in </a:t>
            </a:r>
            <a:r>
              <a:rPr lang="fr-FR"/>
              <a:t>column</a:t>
            </a:r>
            <a:r>
              <a:rPr lang="fr-FR"/>
              <a:t> A</a:t>
            </a:r>
            <a:endParaRPr/>
          </a:p>
        </p:txBody>
      </p:sp>
      <p:pic>
        <p:nvPicPr>
          <p:cNvPr id="2004262826" name="Imag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525431" y="2895598"/>
            <a:ext cx="6126501" cy="3205163"/>
          </a:xfrm>
          <a:prstGeom prst="rect">
            <a:avLst/>
          </a:prstGeom>
        </p:spPr>
      </p:pic>
      <p:sp>
        <p:nvSpPr>
          <p:cNvPr id="630609006" name="Rectangle 4"/>
          <p:cNvSpPr/>
          <p:nvPr/>
        </p:nvSpPr>
        <p:spPr bwMode="auto">
          <a:xfrm>
            <a:off x="8067040" y="2997833"/>
            <a:ext cx="1899920" cy="24034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39684734" name="Rectangle 5"/>
          <p:cNvSpPr/>
          <p:nvPr/>
        </p:nvSpPr>
        <p:spPr bwMode="auto">
          <a:xfrm>
            <a:off x="5507650" y="3860167"/>
            <a:ext cx="6144281" cy="24034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79049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Triple </a:t>
            </a:r>
            <a:r>
              <a:rPr lang="fr-FR"/>
              <a:t>generation</a:t>
            </a:r>
            <a:r>
              <a:rPr lang="fr-FR"/>
              <a:t> </a:t>
            </a:r>
            <a:r>
              <a:rPr lang="fr-FR"/>
              <a:t>principle</a:t>
            </a:r>
            <a:endParaRPr lang="fr-FR"/>
          </a:p>
        </p:txBody>
      </p:sp>
      <p:sp>
        <p:nvSpPr>
          <p:cNvPr id="1331670220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198" y="1825625"/>
            <a:ext cx="4669449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fr-FR"/>
              <a:t>Subject</a:t>
            </a:r>
            <a:r>
              <a:rPr lang="fr-FR"/>
              <a:t> : URI in </a:t>
            </a:r>
            <a:r>
              <a:rPr lang="fr-FR"/>
              <a:t>column</a:t>
            </a:r>
            <a:r>
              <a:rPr lang="fr-FR"/>
              <a:t> A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fr-FR"/>
              <a:t>Predicate</a:t>
            </a:r>
            <a:r>
              <a:rPr lang="fr-FR"/>
              <a:t> : the </a:t>
            </a:r>
            <a:r>
              <a:rPr lang="fr-FR"/>
              <a:t>predicate</a:t>
            </a:r>
            <a:r>
              <a:rPr lang="fr-FR"/>
              <a:t> </a:t>
            </a:r>
            <a:r>
              <a:rPr lang="fr-FR"/>
              <a:t>declared</a:t>
            </a:r>
            <a:r>
              <a:rPr lang="fr-FR"/>
              <a:t> in the </a:t>
            </a:r>
            <a:r>
              <a:rPr lang="fr-FR"/>
              <a:t>magic</a:t>
            </a:r>
            <a:r>
              <a:rPr lang="fr-FR"/>
              <a:t> </a:t>
            </a:r>
            <a:r>
              <a:rPr lang="fr-FR"/>
              <a:t>row</a:t>
            </a:r>
            <a:endParaRPr lang="fr-FR"/>
          </a:p>
          <a:p>
            <a:pPr marL="514350" indent="-514350">
              <a:buFont typeface="+mj-lt"/>
              <a:buAutoNum type="arabicPeriod"/>
              <a:defRPr/>
            </a:pPr>
            <a:r>
              <a:rPr lang="fr-FR"/>
              <a:t>Object : the </a:t>
            </a:r>
            <a:r>
              <a:rPr lang="fr-FR"/>
              <a:t>cell</a:t>
            </a:r>
            <a:r>
              <a:rPr lang="fr-FR"/>
              <a:t> at the intersection of </a:t>
            </a:r>
            <a:r>
              <a:rPr lang="fr-FR"/>
              <a:t>that</a:t>
            </a:r>
            <a:r>
              <a:rPr lang="fr-FR"/>
              <a:t> </a:t>
            </a:r>
            <a:r>
              <a:rPr lang="fr-FR"/>
              <a:t>row</a:t>
            </a:r>
            <a:r>
              <a:rPr lang="fr-FR"/>
              <a:t> and </a:t>
            </a:r>
            <a:r>
              <a:rPr lang="fr-FR"/>
              <a:t>that</a:t>
            </a:r>
            <a:r>
              <a:rPr lang="fr-FR"/>
              <a:t> </a:t>
            </a:r>
            <a:r>
              <a:rPr lang="fr-FR"/>
              <a:t>column</a:t>
            </a:r>
            <a:endParaRPr lang="fr-FR"/>
          </a:p>
        </p:txBody>
      </p:sp>
      <p:pic>
        <p:nvPicPr>
          <p:cNvPr id="1050983921" name="Imag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525431" y="2895598"/>
            <a:ext cx="6126501" cy="3205163"/>
          </a:xfrm>
          <a:prstGeom prst="rect">
            <a:avLst/>
          </a:prstGeom>
        </p:spPr>
      </p:pic>
      <p:sp>
        <p:nvSpPr>
          <p:cNvPr id="1417822678" name="Rectangle 4"/>
          <p:cNvSpPr/>
          <p:nvPr/>
        </p:nvSpPr>
        <p:spPr bwMode="auto">
          <a:xfrm>
            <a:off x="9906001" y="3760950"/>
            <a:ext cx="1371599" cy="24209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85845131" name="Rectangle 5"/>
          <p:cNvSpPr/>
          <p:nvPr/>
        </p:nvSpPr>
        <p:spPr bwMode="auto">
          <a:xfrm>
            <a:off x="5639731" y="4755350"/>
            <a:ext cx="2427310" cy="24034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12243494" name="Rectangle 6"/>
          <p:cNvSpPr/>
          <p:nvPr/>
        </p:nvSpPr>
        <p:spPr bwMode="auto">
          <a:xfrm>
            <a:off x="9814561" y="4773924"/>
            <a:ext cx="1371599" cy="24209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76969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Triple </a:t>
            </a:r>
            <a:r>
              <a:rPr lang="fr-FR"/>
              <a:t>generation</a:t>
            </a:r>
            <a:r>
              <a:rPr lang="fr-FR"/>
              <a:t> </a:t>
            </a:r>
            <a:r>
              <a:rPr lang="fr-FR"/>
              <a:t>principle</a:t>
            </a:r>
            <a:endParaRPr lang="fr-FR"/>
          </a:p>
        </p:txBody>
      </p:sp>
      <p:sp>
        <p:nvSpPr>
          <p:cNvPr id="1793633941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198" y="182562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fr-FR"/>
              <a:t>Object = URI if the value of the </a:t>
            </a:r>
            <a:r>
              <a:rPr lang="fr-FR"/>
              <a:t>cell</a:t>
            </a:r>
            <a:r>
              <a:rPr lang="fr-FR"/>
              <a:t> starts </a:t>
            </a:r>
            <a:r>
              <a:rPr lang="fr-FR"/>
              <a:t>with</a:t>
            </a:r>
            <a:r>
              <a:rPr lang="fr-FR"/>
              <a:t> « http » or </a:t>
            </a:r>
            <a:r>
              <a:rPr lang="fr-FR"/>
              <a:t>with</a:t>
            </a:r>
            <a:r>
              <a:rPr lang="fr-FR"/>
              <a:t> a </a:t>
            </a:r>
            <a:r>
              <a:rPr lang="fr-FR"/>
              <a:t>known</a:t>
            </a:r>
            <a:r>
              <a:rPr lang="fr-FR"/>
              <a:t> </a:t>
            </a:r>
            <a:r>
              <a:rPr lang="fr-FR"/>
              <a:t>prefix</a:t>
            </a:r>
            <a:endParaRPr lang="fr-FR"/>
          </a:p>
          <a:p>
            <a:pPr marL="514350" indent="-514350">
              <a:buFont typeface="+mj-lt"/>
              <a:buAutoNum type="arabicPeriod"/>
              <a:defRPr/>
            </a:pPr>
            <a:r>
              <a:rPr lang="fr-FR"/>
              <a:t>Otherwise</a:t>
            </a:r>
            <a:r>
              <a:rPr lang="fr-FR"/>
              <a:t>, </a:t>
            </a:r>
            <a:r>
              <a:rPr lang="fr-FR"/>
              <a:t>object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a </a:t>
            </a:r>
            <a:r>
              <a:rPr lang="fr-FR"/>
              <a:t>literal</a:t>
            </a:r>
            <a:endParaRPr lang="fr-FR"/>
          </a:p>
          <a:p>
            <a:pPr marL="514350" indent="-514350">
              <a:buFont typeface="+mj-lt"/>
              <a:buAutoNum type="arabicPeriod"/>
              <a:defRPr/>
            </a:pPr>
            <a:endParaRPr lang="fr-FR"/>
          </a:p>
        </p:txBody>
      </p:sp>
      <p:pic>
        <p:nvPicPr>
          <p:cNvPr id="577696636" name="Imag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38237" y="3745700"/>
            <a:ext cx="9915525" cy="2933699"/>
          </a:xfrm>
          <a:prstGeom prst="rect">
            <a:avLst/>
          </a:prstGeom>
        </p:spPr>
      </p:pic>
      <p:sp>
        <p:nvSpPr>
          <p:cNvPr id="1974726687" name="Rectangle 5"/>
          <p:cNvSpPr/>
          <p:nvPr/>
        </p:nvSpPr>
        <p:spPr bwMode="auto">
          <a:xfrm>
            <a:off x="3505199" y="4338322"/>
            <a:ext cx="2590799" cy="60959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09382776" name="Rectangle 9"/>
          <p:cNvSpPr/>
          <p:nvPr/>
        </p:nvSpPr>
        <p:spPr bwMode="auto">
          <a:xfrm>
            <a:off x="6197601" y="4602952"/>
            <a:ext cx="1991360" cy="60959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39762297" name="Rectangle 10"/>
          <p:cNvSpPr/>
          <p:nvPr/>
        </p:nvSpPr>
        <p:spPr bwMode="auto">
          <a:xfrm>
            <a:off x="8290562" y="4602952"/>
            <a:ext cx="2763199" cy="609598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008659528" name="Légende : flèche courbée 11"/>
          <p:cNvSpPr/>
          <p:nvPr/>
        </p:nvSpPr>
        <p:spPr bwMode="auto">
          <a:xfrm>
            <a:off x="8016240" y="3196943"/>
            <a:ext cx="1767840" cy="41663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46575"/>
              <a:gd name="adj6" fmla="val -7770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>
                <a:solidFill>
                  <a:schemeClr val="tx1"/>
                </a:solidFill>
              </a:rPr>
              <a:t>URI value</a:t>
            </a:r>
            <a:endParaRPr/>
          </a:p>
        </p:txBody>
      </p:sp>
      <p:sp>
        <p:nvSpPr>
          <p:cNvPr id="1990074392" name="Légende : flèche courbée 12"/>
          <p:cNvSpPr/>
          <p:nvPr/>
        </p:nvSpPr>
        <p:spPr bwMode="auto">
          <a:xfrm>
            <a:off x="5130800" y="3481462"/>
            <a:ext cx="1767840" cy="41663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7577"/>
              <a:gd name="adj6" fmla="val -5069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>
                <a:solidFill>
                  <a:schemeClr val="tx1"/>
                </a:solidFill>
              </a:rPr>
              <a:t>Literal</a:t>
            </a:r>
            <a:r>
              <a:rPr lang="fr-FR">
                <a:solidFill>
                  <a:schemeClr val="tx1"/>
                </a:solidFill>
              </a:rPr>
              <a:t> value</a:t>
            </a:r>
            <a:endParaRPr/>
          </a:p>
        </p:txBody>
      </p:sp>
      <p:sp>
        <p:nvSpPr>
          <p:cNvPr id="186723636" name="Légende : flèche courbée 13"/>
          <p:cNvSpPr/>
          <p:nvPr/>
        </p:nvSpPr>
        <p:spPr bwMode="auto">
          <a:xfrm>
            <a:off x="10373041" y="3221901"/>
            <a:ext cx="1361440" cy="41663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49014"/>
              <a:gd name="adj6" fmla="val -5605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>
                <a:solidFill>
                  <a:schemeClr val="tx1"/>
                </a:solidFill>
              </a:rPr>
              <a:t>URI value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43512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Column</a:t>
            </a:r>
            <a:r>
              <a:rPr lang="fr-FR"/>
              <a:t> header </a:t>
            </a:r>
            <a:r>
              <a:rPr lang="fr-FR"/>
              <a:t>syntax</a:t>
            </a:r>
            <a:endParaRPr lang="fr-FR"/>
          </a:p>
        </p:txBody>
      </p:sp>
      <p:sp>
        <p:nvSpPr>
          <p:cNvPr id="523698548" name="ZoneTexte 7"/>
          <p:cNvSpPr txBox="1"/>
          <p:nvPr/>
        </p:nvSpPr>
        <p:spPr bwMode="auto">
          <a:xfrm>
            <a:off x="1336040" y="1910031"/>
            <a:ext cx="100177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fr-FR" sz="3600">
                <a:latin typeface="Consolas"/>
              </a:rPr>
              <a:t>[^]&lt;</a:t>
            </a:r>
            <a:r>
              <a:rPr lang="fr-FR" sz="3600">
                <a:latin typeface="Consolas"/>
              </a:rPr>
              <a:t>predicate</a:t>
            </a:r>
            <a:r>
              <a:rPr lang="fr-FR" sz="3600">
                <a:latin typeface="Consolas"/>
              </a:rPr>
              <a:t> URI&gt;[@&lt;languageCode&gt; or ^^&lt;</a:t>
            </a:r>
            <a:r>
              <a:rPr lang="fr-FR" sz="3600">
                <a:latin typeface="Consolas"/>
              </a:rPr>
              <a:t>datatype</a:t>
            </a:r>
            <a:r>
              <a:rPr lang="fr-FR" sz="3600">
                <a:latin typeface="Consolas"/>
              </a:rPr>
              <a:t>&gt;][(</a:t>
            </a:r>
            <a:r>
              <a:rPr lang="fr-FR" sz="3600">
                <a:latin typeface="Consolas"/>
              </a:rPr>
              <a:t>parameter</a:t>
            </a:r>
            <a:r>
              <a:rPr lang="fr-FR" sz="3600">
                <a:latin typeface="Consolas"/>
              </a:rPr>
              <a:t>="value" </a:t>
            </a:r>
            <a:r>
              <a:rPr lang="fr-FR" sz="3600">
                <a:latin typeface="Consolas"/>
              </a:rPr>
              <a:t>parameter</a:t>
            </a:r>
            <a:r>
              <a:rPr lang="fr-FR" sz="3600">
                <a:latin typeface="Consolas"/>
              </a:rPr>
              <a:t>="value")]</a:t>
            </a:r>
            <a:endParaRPr/>
          </a:p>
        </p:txBody>
      </p:sp>
      <p:sp>
        <p:nvSpPr>
          <p:cNvPr id="1899592578" name="ZoneTexte 9"/>
          <p:cNvSpPr txBox="1"/>
          <p:nvPr/>
        </p:nvSpPr>
        <p:spPr bwMode="auto">
          <a:xfrm>
            <a:off x="2174240" y="3883700"/>
            <a:ext cx="100177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  <a:defRPr/>
            </a:pPr>
            <a:r>
              <a:rPr lang="fr-FR" sz="2400">
                <a:latin typeface="Consolas"/>
              </a:rPr>
              <a:t>skos:definition</a:t>
            </a:r>
            <a:endParaRPr lang="fr-FR" sz="2400">
              <a:latin typeface="Consolas"/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fr-FR" sz="2400">
                <a:latin typeface="Consolas"/>
              </a:rPr>
              <a:t>skos:prefLabel@en</a:t>
            </a:r>
            <a:endParaRPr lang="fr-FR" sz="2400">
              <a:latin typeface="Consolas"/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fr-FR" sz="2400">
                <a:latin typeface="Consolas"/>
              </a:rPr>
              <a:t>ex:validUntil</a:t>
            </a:r>
            <a:r>
              <a:rPr lang="fr-FR" sz="2400">
                <a:latin typeface="Consolas"/>
              </a:rPr>
              <a:t>^^</a:t>
            </a:r>
            <a:r>
              <a:rPr lang="fr-FR" sz="2400">
                <a:latin typeface="Consolas"/>
              </a:rPr>
              <a:t>xsd:date</a:t>
            </a:r>
            <a:endParaRPr lang="fr-FR" sz="2400">
              <a:latin typeface="Consolas"/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fr-FR" sz="2400">
                <a:latin typeface="Consolas"/>
              </a:rPr>
              <a:t>skos:definition</a:t>
            </a:r>
            <a:r>
              <a:rPr lang="fr-FR" sz="2400">
                <a:latin typeface="Consolas"/>
              </a:rPr>
              <a:t>(</a:t>
            </a:r>
            <a:r>
              <a:rPr lang="fr-FR" sz="2400">
                <a:latin typeface="Consolas"/>
              </a:rPr>
              <a:t>separator</a:t>
            </a:r>
            <a:r>
              <a:rPr lang="fr-FR" sz="2400">
                <a:latin typeface="Consolas"/>
              </a:rPr>
              <a:t>=",")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fr-FR" sz="2400">
                <a:latin typeface="Consolas"/>
              </a:rPr>
              <a:t>skos:altLabel@en</a:t>
            </a:r>
            <a:r>
              <a:rPr lang="fr-FR" sz="2400">
                <a:latin typeface="Consolas"/>
              </a:rPr>
              <a:t>(</a:t>
            </a:r>
            <a:r>
              <a:rPr lang="fr-FR" sz="2400">
                <a:latin typeface="Consolas"/>
              </a:rPr>
              <a:t>separator</a:t>
            </a:r>
            <a:r>
              <a:rPr lang="fr-FR" sz="2400">
                <a:latin typeface="Consolas"/>
              </a:rPr>
              <a:t>=",")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fr-FR" sz="2400">
                <a:latin typeface="Consolas"/>
              </a:rPr>
              <a:t>skos:notation</a:t>
            </a:r>
            <a:r>
              <a:rPr lang="fr-FR" sz="2400">
                <a:latin typeface="Consolas"/>
              </a:rPr>
              <a:t>^^</a:t>
            </a:r>
            <a:r>
              <a:rPr lang="fr-FR" sz="2400">
                <a:latin typeface="Consolas"/>
              </a:rPr>
              <a:t>ex:idType</a:t>
            </a:r>
            <a:r>
              <a:rPr lang="fr-FR" sz="2400">
                <a:latin typeface="Consolas"/>
              </a:rPr>
              <a:t>(</a:t>
            </a:r>
            <a:r>
              <a:rPr lang="fr-FR" sz="2400">
                <a:latin typeface="Consolas"/>
              </a:rPr>
              <a:t>separator</a:t>
            </a:r>
            <a:r>
              <a:rPr lang="fr-FR" sz="2400">
                <a:latin typeface="Consolas"/>
              </a:rPr>
              <a:t>=",")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fr-FR" sz="2400">
                <a:latin typeface="Consolas"/>
              </a:rPr>
              <a:t>^</a:t>
            </a:r>
            <a:r>
              <a:rPr lang="fr-FR" sz="2400">
                <a:latin typeface="Consolas"/>
              </a:rPr>
              <a:t>skos:member</a:t>
            </a:r>
            <a:endParaRPr lang="fr-FR" sz="2400">
              <a:latin typeface="Consola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9825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Colums</a:t>
            </a:r>
            <a:r>
              <a:rPr lang="fr-FR"/>
              <a:t> can </a:t>
            </a:r>
            <a:r>
              <a:rPr lang="fr-FR"/>
              <a:t>be</a:t>
            </a:r>
            <a:r>
              <a:rPr lang="fr-FR"/>
              <a:t> </a:t>
            </a:r>
            <a:r>
              <a:rPr lang="fr-FR"/>
              <a:t>ignored</a:t>
            </a:r>
            <a:endParaRPr lang="fr-FR"/>
          </a:p>
        </p:txBody>
      </p:sp>
      <p:sp>
        <p:nvSpPr>
          <p:cNvPr id="100243741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198" y="1825625"/>
            <a:ext cx="10723881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fr-FR"/>
              <a:t>Once the </a:t>
            </a:r>
            <a:r>
              <a:rPr lang="fr-FR"/>
              <a:t>title</a:t>
            </a:r>
            <a:r>
              <a:rPr lang="fr-FR"/>
              <a:t> </a:t>
            </a:r>
            <a:r>
              <a:rPr lang="fr-FR"/>
              <a:t>row</a:t>
            </a:r>
            <a:r>
              <a:rPr lang="fr-FR"/>
              <a:t> has been </a:t>
            </a:r>
            <a:r>
              <a:rPr lang="fr-FR"/>
              <a:t>found</a:t>
            </a:r>
            <a:r>
              <a:rPr lang="fr-FR"/>
              <a:t>, </a:t>
            </a:r>
            <a:r>
              <a:rPr lang="fr-FR"/>
              <a:t>columns</a:t>
            </a:r>
            <a:r>
              <a:rPr lang="fr-FR"/>
              <a:t> </a:t>
            </a:r>
            <a:r>
              <a:rPr lang="fr-FR"/>
              <a:t>will</a:t>
            </a:r>
            <a:r>
              <a:rPr lang="fr-FR"/>
              <a:t> </a:t>
            </a:r>
            <a:r>
              <a:rPr lang="fr-FR"/>
              <a:t>be</a:t>
            </a:r>
            <a:r>
              <a:rPr lang="fr-FR"/>
              <a:t> </a:t>
            </a:r>
            <a:r>
              <a:rPr lang="fr-FR"/>
              <a:t>ignored</a:t>
            </a:r>
            <a:r>
              <a:rPr lang="fr-FR"/>
              <a:t> if </a:t>
            </a:r>
            <a:r>
              <a:rPr lang="fr-FR"/>
              <a:t>they</a:t>
            </a:r>
            <a:r>
              <a:rPr lang="fr-FR"/>
              <a:t> </a:t>
            </a:r>
            <a:r>
              <a:rPr lang="fr-FR"/>
              <a:t>don’t</a:t>
            </a:r>
            <a:r>
              <a:rPr lang="fr-FR"/>
              <a:t> </a:t>
            </a:r>
            <a:r>
              <a:rPr lang="fr-FR"/>
              <a:t>declare</a:t>
            </a:r>
            <a:r>
              <a:rPr lang="fr-FR"/>
              <a:t> a </a:t>
            </a:r>
            <a:r>
              <a:rPr lang="fr-FR"/>
              <a:t>known</a:t>
            </a:r>
            <a:r>
              <a:rPr lang="fr-FR"/>
              <a:t> </a:t>
            </a:r>
            <a:r>
              <a:rPr lang="fr-FR"/>
              <a:t>property</a:t>
            </a:r>
            <a:r>
              <a:rPr lang="fr-FR"/>
              <a:t> URI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fr-FR"/>
              <a:t>Typically</a:t>
            </a:r>
            <a:r>
              <a:rPr lang="fr-FR"/>
              <a:t>, use a « # » </a:t>
            </a:r>
            <a:r>
              <a:rPr lang="fr-FR"/>
              <a:t>sign</a:t>
            </a:r>
            <a:r>
              <a:rPr lang="fr-FR"/>
              <a:t> or </a:t>
            </a:r>
            <a:r>
              <a:rPr lang="fr-FR"/>
              <a:t>any</a:t>
            </a:r>
            <a:r>
              <a:rPr lang="fr-FR"/>
              <a:t> </a:t>
            </a:r>
            <a:r>
              <a:rPr lang="fr-FR"/>
              <a:t>other</a:t>
            </a:r>
            <a:r>
              <a:rPr lang="fr-FR"/>
              <a:t> string value not a URI </a:t>
            </a:r>
            <a:r>
              <a:rPr lang="fr-FR"/>
              <a:t>so</a:t>
            </a:r>
            <a:r>
              <a:rPr lang="fr-FR"/>
              <a:t> </a:t>
            </a:r>
            <a:r>
              <a:rPr lang="fr-FR"/>
              <a:t>that</a:t>
            </a:r>
            <a:r>
              <a:rPr lang="fr-FR"/>
              <a:t> the </a:t>
            </a:r>
            <a:r>
              <a:rPr lang="fr-FR"/>
              <a:t>column</a:t>
            </a:r>
            <a:r>
              <a:rPr lang="fr-FR"/>
              <a:t> </a:t>
            </a:r>
            <a:r>
              <a:rPr lang="fr-FR"/>
              <a:t>will</a:t>
            </a:r>
            <a:r>
              <a:rPr lang="fr-FR"/>
              <a:t> </a:t>
            </a:r>
            <a:r>
              <a:rPr lang="fr-FR"/>
              <a:t>be</a:t>
            </a:r>
            <a:r>
              <a:rPr lang="fr-FR"/>
              <a:t> </a:t>
            </a:r>
            <a:r>
              <a:rPr lang="fr-FR"/>
              <a:t>ignored</a:t>
            </a:r>
            <a:endParaRPr lang="fr-FR"/>
          </a:p>
        </p:txBody>
      </p:sp>
      <p:pic>
        <p:nvPicPr>
          <p:cNvPr id="1492748140" name="Image 8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5287908"/>
            <a:ext cx="12192000" cy="957339"/>
          </a:xfrm>
          <a:prstGeom prst="rect">
            <a:avLst/>
          </a:prstGeom>
        </p:spPr>
      </p:pic>
      <p:sp>
        <p:nvSpPr>
          <p:cNvPr id="622014681" name="Rectangle 5"/>
          <p:cNvSpPr/>
          <p:nvPr/>
        </p:nvSpPr>
        <p:spPr bwMode="auto">
          <a:xfrm>
            <a:off x="1372530" y="5316236"/>
            <a:ext cx="5058749" cy="57656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50399930" name="Rectangle 9"/>
          <p:cNvSpPr/>
          <p:nvPr/>
        </p:nvSpPr>
        <p:spPr bwMode="auto">
          <a:xfrm>
            <a:off x="6467305" y="5316236"/>
            <a:ext cx="5440215" cy="57656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15736763" name="Légende : flèche courbée 10"/>
          <p:cNvSpPr/>
          <p:nvPr/>
        </p:nvSpPr>
        <p:spPr bwMode="auto">
          <a:xfrm>
            <a:off x="3942079" y="4399280"/>
            <a:ext cx="1767840" cy="60446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2500"/>
              <a:gd name="adj6" fmla="val -4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>
                <a:solidFill>
                  <a:schemeClr val="tx1"/>
                </a:solidFill>
              </a:rPr>
              <a:t>Columns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>
                <a:solidFill>
                  <a:schemeClr val="tx1"/>
                </a:solidFill>
              </a:rPr>
              <a:t>will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>
                <a:solidFill>
                  <a:schemeClr val="tx1"/>
                </a:solidFill>
              </a:rPr>
              <a:t>be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>
                <a:solidFill>
                  <a:schemeClr val="tx1"/>
                </a:solidFill>
              </a:rPr>
              <a:t>ignored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223558105" name="Légende : flèche courbée 11"/>
          <p:cNvSpPr/>
          <p:nvPr/>
        </p:nvSpPr>
        <p:spPr bwMode="auto">
          <a:xfrm>
            <a:off x="8303492" y="4427608"/>
            <a:ext cx="1767840" cy="60446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2500"/>
              <a:gd name="adj6" fmla="val -4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>
                <a:solidFill>
                  <a:schemeClr val="tx1"/>
                </a:solidFill>
              </a:rPr>
              <a:t>Columns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>
                <a:solidFill>
                  <a:schemeClr val="tx1"/>
                </a:solidFill>
              </a:rPr>
              <a:t>will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>
                <a:solidFill>
                  <a:schemeClr val="tx1"/>
                </a:solidFill>
              </a:rPr>
              <a:t>be</a:t>
            </a:r>
            <a:r>
              <a:rPr lang="fr-FR">
                <a:solidFill>
                  <a:schemeClr val="tx1"/>
                </a:solidFill>
              </a:rPr>
              <a:t> </a:t>
            </a:r>
            <a:r>
              <a:rPr lang="fr-FR">
                <a:solidFill>
                  <a:schemeClr val="tx1"/>
                </a:solidFill>
              </a:rPr>
              <a:t>converted</a:t>
            </a:r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70964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Declaring</a:t>
            </a:r>
            <a:r>
              <a:rPr lang="fr-FR"/>
              <a:t> </a:t>
            </a:r>
            <a:r>
              <a:rPr lang="fr-FR"/>
              <a:t>prefixes</a:t>
            </a:r>
            <a:r>
              <a:rPr lang="fr-FR"/>
              <a:t> in the header</a:t>
            </a:r>
            <a:endParaRPr/>
          </a:p>
        </p:txBody>
      </p:sp>
      <p:pic>
        <p:nvPicPr>
          <p:cNvPr id="1910402658" name="Imag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4177000"/>
            <a:ext cx="12192000" cy="2019359"/>
          </a:xfrm>
          <a:prstGeom prst="rect">
            <a:avLst/>
          </a:prstGeom>
        </p:spPr>
      </p:pic>
      <p:sp>
        <p:nvSpPr>
          <p:cNvPr id="78678517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198" y="1825625"/>
            <a:ext cx="10408921" cy="2019359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/>
              <a:defRPr/>
            </a:pPr>
            <a:r>
              <a:rPr lang="fr-FR"/>
              <a:t>Column</a:t>
            </a:r>
            <a:r>
              <a:rPr lang="fr-FR"/>
              <a:t> A = « PREFIX » or « </a:t>
            </a:r>
            <a:r>
              <a:rPr lang="fr-FR"/>
              <a:t>prefix</a:t>
            </a:r>
            <a:r>
              <a:rPr lang="fr-FR"/>
              <a:t> » or « @prefix »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r>
              <a:rPr lang="fr-FR"/>
              <a:t>Column</a:t>
            </a:r>
            <a:r>
              <a:rPr lang="fr-FR"/>
              <a:t> B = </a:t>
            </a:r>
            <a:r>
              <a:rPr lang="fr-FR"/>
              <a:t>prefix</a:t>
            </a:r>
            <a:endParaRPr lang="fr-FR"/>
          </a:p>
          <a:p>
            <a:pPr marL="514350" indent="-514350">
              <a:buFont typeface="+mj-lt"/>
              <a:buAutoNum type="arabicPeriod"/>
              <a:defRPr/>
            </a:pPr>
            <a:r>
              <a:rPr lang="fr-FR"/>
              <a:t>Column</a:t>
            </a:r>
            <a:r>
              <a:rPr lang="fr-FR"/>
              <a:t> C = </a:t>
            </a:r>
            <a:r>
              <a:rPr lang="fr-FR"/>
              <a:t>corresponding</a:t>
            </a:r>
            <a:r>
              <a:rPr lang="fr-FR"/>
              <a:t> URI</a:t>
            </a:r>
            <a:endParaRPr/>
          </a:p>
          <a:p>
            <a:pPr marL="514350" indent="-514350">
              <a:buFont typeface="+mj-lt"/>
              <a:buAutoNum type="arabicPeriod"/>
              <a:defRPr/>
            </a:pPr>
            <a:endParaRPr lang="fr-FR"/>
          </a:p>
          <a:p>
            <a:pPr>
              <a:defRPr/>
            </a:pPr>
            <a:r>
              <a:rPr lang="fr-FR"/>
              <a:t>All </a:t>
            </a:r>
            <a:r>
              <a:rPr lang="fr-FR"/>
              <a:t>prefixes</a:t>
            </a:r>
            <a:r>
              <a:rPr lang="fr-FR"/>
              <a:t> </a:t>
            </a:r>
            <a:r>
              <a:rPr lang="fr-FR"/>
              <a:t>used</a:t>
            </a:r>
            <a:r>
              <a:rPr lang="fr-FR"/>
              <a:t> in </a:t>
            </a:r>
            <a:r>
              <a:rPr lang="fr-FR"/>
              <a:t>predicates</a:t>
            </a:r>
            <a:r>
              <a:rPr lang="fr-FR"/>
              <a:t> and URI and values must </a:t>
            </a:r>
            <a:r>
              <a:rPr lang="fr-FR"/>
              <a:t>be</a:t>
            </a:r>
            <a:r>
              <a:rPr lang="fr-FR"/>
              <a:t> </a:t>
            </a:r>
            <a:r>
              <a:rPr lang="fr-FR"/>
              <a:t>declared</a:t>
            </a:r>
            <a:endParaRPr lang="fr-FR"/>
          </a:p>
          <a:p>
            <a:pPr>
              <a:defRPr/>
            </a:pPr>
            <a:r>
              <a:rPr lang="fr-FR"/>
              <a:t>It </a:t>
            </a:r>
            <a:r>
              <a:rPr lang="fr-FR"/>
              <a:t>is</a:t>
            </a:r>
            <a:r>
              <a:rPr lang="fr-FR"/>
              <a:t> possible to group </a:t>
            </a:r>
            <a:r>
              <a:rPr lang="fr-FR"/>
              <a:t>prefixes</a:t>
            </a:r>
            <a:r>
              <a:rPr lang="fr-FR"/>
              <a:t> in a </a:t>
            </a:r>
            <a:r>
              <a:rPr lang="fr-FR"/>
              <a:t>separate</a:t>
            </a:r>
            <a:r>
              <a:rPr lang="fr-FR"/>
              <a:t>, </a:t>
            </a:r>
            <a:r>
              <a:rPr lang="fr-FR"/>
              <a:t>dedicated</a:t>
            </a:r>
            <a:r>
              <a:rPr lang="fr-FR"/>
              <a:t> </a:t>
            </a:r>
            <a:r>
              <a:rPr lang="fr-FR"/>
              <a:t>sheet</a:t>
            </a:r>
            <a:r>
              <a:rPr lang="fr-FR"/>
              <a:t> if the </a:t>
            </a:r>
            <a:r>
              <a:rPr lang="fr-FR"/>
              <a:t>list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long</a:t>
            </a:r>
            <a:endParaRPr/>
          </a:p>
          <a:p>
            <a:pPr>
              <a:defRPr/>
            </a:pPr>
            <a:r>
              <a:rPr lang="fr-FR"/>
              <a:t>Some</a:t>
            </a:r>
            <a:r>
              <a:rPr lang="fr-FR"/>
              <a:t> </a:t>
            </a:r>
            <a:r>
              <a:rPr lang="fr-FR"/>
              <a:t>prefixes</a:t>
            </a:r>
            <a:r>
              <a:rPr lang="fr-FR"/>
              <a:t> are </a:t>
            </a:r>
            <a:r>
              <a:rPr lang="fr-FR"/>
              <a:t>already</a:t>
            </a:r>
            <a:r>
              <a:rPr lang="fr-FR"/>
              <a:t> </a:t>
            </a:r>
            <a:r>
              <a:rPr lang="fr-FR"/>
              <a:t>known</a:t>
            </a:r>
            <a:r>
              <a:rPr lang="fr-FR"/>
              <a:t> by default, no </a:t>
            </a:r>
            <a:r>
              <a:rPr lang="fr-FR"/>
              <a:t>need</a:t>
            </a:r>
            <a:r>
              <a:rPr lang="fr-FR"/>
              <a:t> to </a:t>
            </a:r>
            <a:r>
              <a:rPr lang="fr-FR"/>
              <a:t>declare</a:t>
            </a:r>
            <a:r>
              <a:rPr lang="fr-FR"/>
              <a:t> </a:t>
            </a:r>
            <a:r>
              <a:rPr lang="fr-FR"/>
              <a:t>them</a:t>
            </a:r>
            <a:r>
              <a:rPr lang="fr-FR"/>
              <a:t> (</a:t>
            </a:r>
            <a:r>
              <a:rPr lang="fr-FR"/>
              <a:t>see</a:t>
            </a:r>
            <a:r>
              <a:rPr lang="fr-FR"/>
              <a:t> documentation)</a:t>
            </a:r>
            <a:endParaRPr/>
          </a:p>
          <a:p>
            <a:pPr marL="0" indent="0">
              <a:buNone/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206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971163" name="Google Shape;66;p15"/>
          <p:cNvSpPr txBox="1">
            <a:spLocks noGrp="1"/>
          </p:cNvSpPr>
          <p:nvPr>
            <p:ph type="title"/>
          </p:nvPr>
        </p:nvSpPr>
        <p:spPr bwMode="auto">
          <a:xfrm>
            <a:off x="415599" y="2739466"/>
            <a:ext cx="11360800" cy="1449199"/>
          </a:xfrm>
          <a:prstGeom prst="rect">
            <a:avLst/>
          </a:prstGeom>
        </p:spPr>
        <p:txBody>
          <a:bodyPr spcFirstLastPara="1" wrap="square" lIns="121898" tIns="121898" rIns="121898" bIns="121898" anchor="ctr" anchorCtr="0">
            <a:noAutofit/>
          </a:bodyPr>
          <a:lstStyle/>
          <a:p>
            <a:pPr>
              <a:defRPr/>
            </a:pPr>
            <a:r>
              <a:rPr lang="fr-FR" sz="7200">
                <a:solidFill>
                  <a:schemeClr val="lt1"/>
                </a:solidFill>
                <a:latin typeface="Century Gothic"/>
              </a:rPr>
              <a:t>API</a:t>
            </a:r>
            <a:endParaRPr sz="7200">
              <a:solidFill>
                <a:schemeClr val="lt1"/>
              </a:solidFill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97307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Online API documentation</a:t>
            </a:r>
            <a:endParaRPr/>
          </a:p>
        </p:txBody>
      </p:sp>
      <p:sp>
        <p:nvSpPr>
          <p:cNvPr id="1816231568" name="Espace réservé du contenu 2"/>
          <p:cNvSpPr>
            <a:spLocks noGrp="1"/>
          </p:cNvSpPr>
          <p:nvPr>
            <p:ph idx="1"/>
          </p:nvPr>
        </p:nvSpPr>
        <p:spPr bwMode="auto">
          <a:xfrm flipH="0" flipV="0">
            <a:off x="944878" y="1608442"/>
            <a:ext cx="10408921" cy="25622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2600" b="0" i="0" u="sng" strike="noStrike" cap="none" spc="0">
                <a:solidFill>
                  <a:schemeClr val="tx1"/>
                </a:solidFill>
                <a:latin typeface="Calibri"/>
                <a:cs typeface="Calibri"/>
                <a:hlinkClick r:id="rId3" tooltip="https://xls2rdf.sparna.fr/rest"/>
              </a:rPr>
              <a:t>https://xls2rdf.sparna.fr/rest</a:t>
            </a:r>
            <a:r>
              <a:rPr/>
              <a:t> </a:t>
            </a:r>
            <a:endParaRPr/>
          </a:p>
          <a:p>
            <a:pPr>
              <a:defRPr/>
            </a:pPr>
            <a:r>
              <a:rPr/>
              <a:t>Can allow you to convert online Google Spreadsheets</a:t>
            </a:r>
            <a:endParaRPr/>
          </a:p>
          <a:p>
            <a:pPr>
              <a:defRPr/>
            </a:pPr>
            <a:r>
              <a:rPr/>
              <a:t>Can give you a direct URL to your RDF file</a:t>
            </a:r>
            <a:endParaRPr/>
          </a:p>
          <a:p>
            <a:pPr lvl="1">
              <a:defRPr/>
            </a:pPr>
            <a:r>
              <a:rPr/>
              <a:t>With speadsheet URL as a parameter</a:t>
            </a:r>
            <a:endParaRPr/>
          </a:p>
          <a:p>
            <a:pPr lvl="0">
              <a:defRPr/>
            </a:pPr>
            <a:r>
              <a:rPr/>
              <a:t>Don’t use in production 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206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254278" name="Google Shape;66;p15"/>
          <p:cNvSpPr txBox="1">
            <a:spLocks noGrp="1"/>
          </p:cNvSpPr>
          <p:nvPr>
            <p:ph type="title"/>
          </p:nvPr>
        </p:nvSpPr>
        <p:spPr bwMode="auto">
          <a:xfrm>
            <a:off x="415600" y="2739467"/>
            <a:ext cx="11360800" cy="1449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defRPr/>
            </a:pPr>
            <a:r>
              <a:rPr lang="fr-FR" sz="7200">
                <a:solidFill>
                  <a:schemeClr val="lt1"/>
                </a:solidFill>
                <a:latin typeface="Century Gothic"/>
              </a:rPr>
              <a:t>A</a:t>
            </a:r>
            <a:r>
              <a:rPr lang="fr" sz="7200">
                <a:solidFill>
                  <a:schemeClr val="lt1"/>
                </a:solidFill>
                <a:latin typeface="Century Gothic"/>
              </a:rPr>
              <a:t>dvanced usage</a:t>
            </a:r>
            <a:endParaRPr sz="7200">
              <a:solidFill>
                <a:schemeClr val="lt1"/>
              </a:solidFill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73478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Create</a:t>
            </a:r>
            <a:r>
              <a:rPr lang="fr-FR"/>
              <a:t> </a:t>
            </a:r>
            <a:r>
              <a:rPr lang="fr-FR"/>
              <a:t>predicates</a:t>
            </a:r>
            <a:r>
              <a:rPr lang="fr-FR"/>
              <a:t> « the inverse </a:t>
            </a:r>
            <a:r>
              <a:rPr lang="fr-FR"/>
              <a:t>way</a:t>
            </a:r>
            <a:r>
              <a:rPr lang="fr-FR"/>
              <a:t> » </a:t>
            </a:r>
            <a:r>
              <a:rPr lang="fr-FR"/>
              <a:t>with</a:t>
            </a:r>
            <a:r>
              <a:rPr lang="fr-FR"/>
              <a:t> ^</a:t>
            </a:r>
            <a:endParaRPr/>
          </a:p>
        </p:txBody>
      </p:sp>
      <p:sp>
        <p:nvSpPr>
          <p:cNvPr id="1519899753" name="ZoneTexte 7"/>
          <p:cNvSpPr txBox="1"/>
          <p:nvPr/>
        </p:nvSpPr>
        <p:spPr bwMode="auto">
          <a:xfrm>
            <a:off x="944878" y="4926390"/>
            <a:ext cx="3755880" cy="1189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sz="36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onsolas"/>
                <a:ea typeface="+mn-ea"/>
                <a:cs typeface="+mn-cs"/>
              </a:rPr>
              <a:t>^</a:t>
            </a:r>
            <a:r>
              <a:rPr lang="fr-FR" sz="36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onsolas"/>
                <a:ea typeface="+mn-ea"/>
                <a:cs typeface="+mn-cs"/>
              </a:rPr>
              <a:t>skos:member</a:t>
            </a:r>
            <a:endParaRPr lang="fr-FR" sz="3600" b="0" i="0" u="none" strike="noStrike" cap="none" spc="0">
              <a:ln>
                <a:noFill/>
              </a:ln>
              <a:solidFill>
                <a:prstClr val="black"/>
              </a:solidFill>
              <a:latin typeface="Consolas"/>
              <a:ea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fr-FR" sz="36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onsolas"/>
                <a:ea typeface="Arial"/>
                <a:cs typeface="Arial"/>
              </a:rPr>
              <a:t>^sh:property</a:t>
            </a:r>
            <a:endParaRPr lang="fr-FR" sz="3600" b="0" i="0" u="none" strike="noStrike" cap="none" spc="0">
              <a:ln>
                <a:noFill/>
              </a:ln>
              <a:solidFill>
                <a:prstClr val="black"/>
              </a:solidFill>
              <a:latin typeface="Consolas"/>
              <a:ea typeface="Arial"/>
              <a:cs typeface="Arial"/>
            </a:endParaRPr>
          </a:p>
        </p:txBody>
      </p:sp>
      <p:sp>
        <p:nvSpPr>
          <p:cNvPr id="1643444251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944879" y="1608443"/>
            <a:ext cx="10408921" cy="1978037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/>
              <a:t>Normally</a:t>
            </a:r>
            <a:r>
              <a:rPr lang="fr-FR"/>
              <a:t> the triples are </a:t>
            </a:r>
            <a:r>
              <a:rPr lang="fr-FR"/>
              <a:t>created</a:t>
            </a:r>
            <a:r>
              <a:rPr lang="fr-FR"/>
              <a:t> </a:t>
            </a:r>
            <a:r>
              <a:rPr lang="fr-FR" b="1" u="sng"/>
              <a:t>from</a:t>
            </a:r>
            <a:r>
              <a:rPr lang="fr-FR"/>
              <a:t> the URI in </a:t>
            </a:r>
            <a:r>
              <a:rPr lang="fr-FR"/>
              <a:t>column</a:t>
            </a:r>
            <a:r>
              <a:rPr lang="fr-FR"/>
              <a:t> A </a:t>
            </a:r>
            <a:r>
              <a:rPr lang="fr-FR" b="1" u="sng"/>
              <a:t>to</a:t>
            </a:r>
            <a:r>
              <a:rPr lang="fr-FR"/>
              <a:t> URI in </a:t>
            </a:r>
            <a:r>
              <a:rPr lang="fr-FR"/>
              <a:t>property</a:t>
            </a:r>
            <a:r>
              <a:rPr lang="fr-FR"/>
              <a:t> </a:t>
            </a:r>
            <a:r>
              <a:rPr lang="fr-FR"/>
              <a:t>column</a:t>
            </a:r>
            <a:endParaRPr lang="fr-FR"/>
          </a:p>
          <a:p>
            <a:pPr>
              <a:defRPr/>
            </a:pPr>
            <a:r>
              <a:rPr lang="fr-FR"/>
              <a:t>Use ^ </a:t>
            </a:r>
            <a:r>
              <a:rPr lang="fr-FR"/>
              <a:t>before</a:t>
            </a:r>
            <a:r>
              <a:rPr lang="fr-FR"/>
              <a:t> the </a:t>
            </a:r>
            <a:r>
              <a:rPr lang="fr-FR"/>
              <a:t>predicate</a:t>
            </a:r>
            <a:r>
              <a:rPr lang="fr-FR"/>
              <a:t> URI </a:t>
            </a:r>
            <a:r>
              <a:rPr lang="fr-FR"/>
              <a:t>so</a:t>
            </a:r>
            <a:r>
              <a:rPr lang="fr-FR"/>
              <a:t> </a:t>
            </a:r>
            <a:r>
              <a:rPr lang="fr-FR"/>
              <a:t>that</a:t>
            </a:r>
            <a:r>
              <a:rPr lang="fr-FR"/>
              <a:t> the </a:t>
            </a:r>
            <a:r>
              <a:rPr lang="fr-FR"/>
              <a:t>link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made </a:t>
            </a:r>
            <a:r>
              <a:rPr lang="fr-FR" b="1" u="sng"/>
              <a:t>from</a:t>
            </a:r>
            <a:r>
              <a:rPr lang="fr-FR"/>
              <a:t> the URI in </a:t>
            </a:r>
            <a:r>
              <a:rPr lang="fr-FR"/>
              <a:t>property</a:t>
            </a:r>
            <a:r>
              <a:rPr lang="fr-FR"/>
              <a:t> </a:t>
            </a:r>
            <a:r>
              <a:rPr lang="fr-FR"/>
              <a:t>column</a:t>
            </a:r>
            <a:r>
              <a:rPr lang="fr-FR"/>
              <a:t> </a:t>
            </a:r>
            <a:r>
              <a:rPr lang="fr-FR" b="1" u="sng"/>
              <a:t>to</a:t>
            </a:r>
            <a:r>
              <a:rPr lang="fr-FR"/>
              <a:t> URI in </a:t>
            </a:r>
            <a:r>
              <a:rPr lang="fr-FR"/>
              <a:t>column</a:t>
            </a:r>
            <a:r>
              <a:rPr lang="fr-FR"/>
              <a:t> A</a:t>
            </a:r>
            <a:endParaRPr/>
          </a:p>
          <a:p>
            <a:pPr>
              <a:defRPr/>
            </a:pPr>
            <a:r>
              <a:rPr lang="fr-FR"/>
              <a:t>Useful</a:t>
            </a:r>
            <a:r>
              <a:rPr lang="fr-FR"/>
              <a:t> to </a:t>
            </a:r>
            <a:r>
              <a:rPr lang="fr-FR"/>
              <a:t>indicate</a:t>
            </a:r>
            <a:r>
              <a:rPr lang="fr-FR"/>
              <a:t> collection </a:t>
            </a:r>
            <a:r>
              <a:rPr lang="fr-FR"/>
              <a:t>membership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:</a:t>
            </a:r>
            <a:endParaRPr/>
          </a:p>
        </p:txBody>
      </p:sp>
      <p:pic>
        <p:nvPicPr>
          <p:cNvPr id="329884819" name="Picture 2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4693920" y="4306529"/>
            <a:ext cx="7163118" cy="221046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039369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Describe</a:t>
            </a:r>
            <a:r>
              <a:rPr lang="fr-FR"/>
              <a:t> « </a:t>
            </a:r>
            <a:r>
              <a:rPr lang="fr-FR"/>
              <a:t>nested</a:t>
            </a:r>
            <a:r>
              <a:rPr lang="fr-FR"/>
              <a:t> </a:t>
            </a:r>
            <a:r>
              <a:rPr lang="fr-FR"/>
              <a:t>objects</a:t>
            </a:r>
            <a:r>
              <a:rPr lang="fr-FR"/>
              <a:t> » </a:t>
            </a:r>
            <a:r>
              <a:rPr lang="fr-FR"/>
              <a:t>with</a:t>
            </a:r>
            <a:r>
              <a:rPr lang="fr-FR"/>
              <a:t> id="…" +  </a:t>
            </a:r>
            <a:r>
              <a:rPr lang="fr-FR"/>
              <a:t>subjectColumn</a:t>
            </a:r>
            <a:r>
              <a:rPr lang="fr-FR"/>
              <a:t>="…"</a:t>
            </a:r>
            <a:endParaRPr/>
          </a:p>
        </p:txBody>
      </p:sp>
      <p:sp>
        <p:nvSpPr>
          <p:cNvPr id="424373162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91539" y="1943724"/>
            <a:ext cx="10408921" cy="1633412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fr-FR"/>
              <a:t>Normally</a:t>
            </a:r>
            <a:r>
              <a:rPr lang="fr-FR"/>
              <a:t> the triples are </a:t>
            </a:r>
            <a:r>
              <a:rPr lang="fr-FR"/>
              <a:t>created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 b="1"/>
              <a:t>URI of </a:t>
            </a:r>
            <a:r>
              <a:rPr lang="fr-FR" b="1"/>
              <a:t>column</a:t>
            </a:r>
            <a:r>
              <a:rPr lang="fr-FR" b="1"/>
              <a:t> A as </a:t>
            </a:r>
            <a:r>
              <a:rPr lang="fr-FR" b="1"/>
              <a:t>subject</a:t>
            </a:r>
            <a:endParaRPr lang="fr-FR" b="1"/>
          </a:p>
          <a:p>
            <a:pPr>
              <a:defRPr/>
            </a:pPr>
            <a:r>
              <a:rPr lang="fr-FR"/>
              <a:t>You can </a:t>
            </a:r>
            <a:r>
              <a:rPr lang="fr-FR"/>
              <a:t>indicate</a:t>
            </a:r>
            <a:r>
              <a:rPr lang="fr-FR"/>
              <a:t> </a:t>
            </a:r>
            <a:r>
              <a:rPr lang="fr-FR"/>
              <a:t>that</a:t>
            </a:r>
            <a:r>
              <a:rPr lang="fr-FR"/>
              <a:t> </a:t>
            </a:r>
            <a:r>
              <a:rPr lang="fr-FR"/>
              <a:t>some</a:t>
            </a:r>
            <a:r>
              <a:rPr lang="fr-FR"/>
              <a:t> </a:t>
            </a:r>
            <a:r>
              <a:rPr lang="fr-FR"/>
              <a:t>column</a:t>
            </a:r>
            <a:r>
              <a:rPr lang="fr-FR"/>
              <a:t> </a:t>
            </a:r>
            <a:r>
              <a:rPr lang="fr-FR"/>
              <a:t>should</a:t>
            </a:r>
            <a:r>
              <a:rPr lang="fr-FR"/>
              <a:t> use the URI in </a:t>
            </a:r>
            <a:r>
              <a:rPr lang="fr-FR"/>
              <a:t>another</a:t>
            </a:r>
            <a:r>
              <a:rPr lang="fr-FR"/>
              <a:t> </a:t>
            </a:r>
            <a:r>
              <a:rPr lang="fr-FR"/>
              <a:t>column</a:t>
            </a:r>
            <a:r>
              <a:rPr lang="fr-FR"/>
              <a:t> as </a:t>
            </a:r>
            <a:r>
              <a:rPr lang="fr-FR"/>
              <a:t>subject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parameter</a:t>
            </a:r>
            <a:r>
              <a:rPr lang="fr-FR"/>
              <a:t> : </a:t>
            </a:r>
            <a:r>
              <a:rPr lang="fr-FR"/>
              <a:t>subjectColumn</a:t>
            </a:r>
            <a:r>
              <a:rPr lang="fr-FR"/>
              <a:t>="…"</a:t>
            </a:r>
            <a:endParaRPr/>
          </a:p>
          <a:p>
            <a:pPr>
              <a:defRPr/>
            </a:pPr>
            <a:r>
              <a:rPr lang="fr-FR"/>
              <a:t>The value of </a:t>
            </a:r>
            <a:r>
              <a:rPr lang="fr-FR"/>
              <a:t>subjectColumn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an id of </a:t>
            </a:r>
            <a:r>
              <a:rPr lang="fr-FR"/>
              <a:t>another</a:t>
            </a:r>
            <a:r>
              <a:rPr lang="fr-FR"/>
              <a:t> header </a:t>
            </a:r>
            <a:r>
              <a:rPr lang="fr-FR"/>
              <a:t>indicated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id="…" </a:t>
            </a:r>
            <a:endParaRPr/>
          </a:p>
        </p:txBody>
      </p:sp>
      <p:pic>
        <p:nvPicPr>
          <p:cNvPr id="455796794" name="Image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3720191"/>
            <a:ext cx="12192000" cy="31378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29467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Refer</a:t>
            </a:r>
            <a:r>
              <a:rPr lang="fr-FR"/>
              <a:t> to URI of </a:t>
            </a:r>
            <a:r>
              <a:rPr lang="fr-FR"/>
              <a:t>entities</a:t>
            </a:r>
            <a:r>
              <a:rPr lang="fr-FR"/>
              <a:t> </a:t>
            </a:r>
            <a:r>
              <a:rPr lang="fr-FR"/>
              <a:t>through</a:t>
            </a:r>
            <a:r>
              <a:rPr lang="fr-FR"/>
              <a:t> </a:t>
            </a:r>
            <a:r>
              <a:rPr lang="fr-FR"/>
              <a:t>their</a:t>
            </a:r>
            <a:r>
              <a:rPr lang="fr-FR"/>
              <a:t> labels </a:t>
            </a:r>
            <a:r>
              <a:rPr lang="fr-FR"/>
              <a:t>using</a:t>
            </a:r>
            <a:r>
              <a:rPr lang="fr-FR"/>
              <a:t> </a:t>
            </a:r>
            <a:r>
              <a:rPr lang="fr-FR"/>
              <a:t>lookupColumn</a:t>
            </a:r>
            <a:r>
              <a:rPr lang="fr-FR"/>
              <a:t>="…"</a:t>
            </a:r>
            <a:endParaRPr/>
          </a:p>
        </p:txBody>
      </p:sp>
      <p:sp>
        <p:nvSpPr>
          <p:cNvPr id="1873648087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2249159"/>
            <a:ext cx="4594861" cy="4243716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fr-FR"/>
              <a:t>Normally</a:t>
            </a:r>
            <a:r>
              <a:rPr lang="fr-FR"/>
              <a:t> the </a:t>
            </a:r>
            <a:r>
              <a:rPr lang="fr-FR"/>
              <a:t>object</a:t>
            </a:r>
            <a:r>
              <a:rPr lang="fr-FR"/>
              <a:t> of triples are </a:t>
            </a:r>
            <a:r>
              <a:rPr lang="fr-FR"/>
              <a:t>URIs</a:t>
            </a:r>
            <a:r>
              <a:rPr lang="fr-FR"/>
              <a:t> if the </a:t>
            </a:r>
            <a:r>
              <a:rPr lang="fr-FR"/>
              <a:t>cell</a:t>
            </a:r>
            <a:r>
              <a:rPr lang="fr-FR"/>
              <a:t> starts </a:t>
            </a:r>
            <a:r>
              <a:rPr lang="fr-FR"/>
              <a:t>with</a:t>
            </a:r>
            <a:r>
              <a:rPr lang="fr-FR"/>
              <a:t> « http » or </a:t>
            </a:r>
            <a:r>
              <a:rPr lang="fr-FR"/>
              <a:t>with</a:t>
            </a:r>
            <a:r>
              <a:rPr lang="fr-FR"/>
              <a:t> a </a:t>
            </a:r>
            <a:r>
              <a:rPr lang="fr-FR"/>
              <a:t>known</a:t>
            </a:r>
            <a:r>
              <a:rPr lang="fr-FR"/>
              <a:t> </a:t>
            </a:r>
            <a:r>
              <a:rPr lang="fr-FR"/>
              <a:t>prefix</a:t>
            </a:r>
            <a:endParaRPr lang="fr-FR"/>
          </a:p>
          <a:p>
            <a:pPr>
              <a:defRPr/>
            </a:pPr>
            <a:r>
              <a:rPr lang="fr-FR"/>
              <a:t>But if </a:t>
            </a:r>
            <a:r>
              <a:rPr lang="fr-FR"/>
              <a:t>you</a:t>
            </a:r>
            <a:r>
              <a:rPr lang="fr-FR"/>
              <a:t> </a:t>
            </a:r>
            <a:r>
              <a:rPr lang="fr-FR"/>
              <a:t>want</a:t>
            </a:r>
            <a:r>
              <a:rPr lang="fr-FR"/>
              <a:t> to </a:t>
            </a:r>
            <a:r>
              <a:rPr lang="fr-FR"/>
              <a:t>make</a:t>
            </a:r>
            <a:r>
              <a:rPr lang="fr-FR"/>
              <a:t> a </a:t>
            </a:r>
            <a:r>
              <a:rPr lang="fr-FR"/>
              <a:t>reference</a:t>
            </a:r>
            <a:r>
              <a:rPr lang="fr-FR"/>
              <a:t> to a URI </a:t>
            </a:r>
            <a:r>
              <a:rPr lang="fr-FR"/>
              <a:t>that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in the </a:t>
            </a:r>
            <a:r>
              <a:rPr lang="fr-FR"/>
              <a:t>same</a:t>
            </a:r>
            <a:r>
              <a:rPr lang="fr-FR"/>
              <a:t> </a:t>
            </a:r>
            <a:r>
              <a:rPr lang="fr-FR"/>
              <a:t>sheet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its</a:t>
            </a:r>
            <a:r>
              <a:rPr lang="fr-FR"/>
              <a:t> label, </a:t>
            </a:r>
            <a:r>
              <a:rPr lang="fr-FR"/>
              <a:t>you</a:t>
            </a:r>
            <a:r>
              <a:rPr lang="fr-FR"/>
              <a:t> can </a:t>
            </a:r>
            <a:r>
              <a:rPr lang="fr-FR"/>
              <a:t>refer</a:t>
            </a:r>
            <a:r>
              <a:rPr lang="fr-FR"/>
              <a:t> to </a:t>
            </a:r>
            <a:r>
              <a:rPr lang="fr-FR"/>
              <a:t>this</a:t>
            </a:r>
            <a:r>
              <a:rPr lang="fr-FR"/>
              <a:t> URI by </a:t>
            </a:r>
            <a:r>
              <a:rPr lang="fr-FR"/>
              <a:t>indicating</a:t>
            </a:r>
            <a:r>
              <a:rPr lang="fr-FR"/>
              <a:t> </a:t>
            </a:r>
            <a:r>
              <a:rPr lang="fr-FR"/>
              <a:t>its</a:t>
            </a:r>
            <a:r>
              <a:rPr lang="fr-FR"/>
              <a:t> label in the </a:t>
            </a:r>
            <a:r>
              <a:rPr lang="fr-FR"/>
              <a:t>cell</a:t>
            </a:r>
            <a:r>
              <a:rPr lang="fr-FR"/>
              <a:t> and set </a:t>
            </a:r>
            <a:r>
              <a:rPr lang="fr-FR"/>
              <a:t>lookupColumn</a:t>
            </a:r>
            <a:r>
              <a:rPr lang="fr-FR"/>
              <a:t>="…" </a:t>
            </a:r>
            <a:r>
              <a:rPr lang="fr-FR"/>
              <a:t>parameter</a:t>
            </a:r>
            <a:r>
              <a:rPr lang="fr-FR"/>
              <a:t> in the header</a:t>
            </a:r>
            <a:endParaRPr/>
          </a:p>
          <a:p>
            <a:pPr>
              <a:defRPr/>
            </a:pPr>
            <a:r>
              <a:rPr lang="fr-FR"/>
              <a:t>The value of </a:t>
            </a:r>
            <a:r>
              <a:rPr lang="fr-FR"/>
              <a:t>lookupColumn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an id of </a:t>
            </a:r>
            <a:r>
              <a:rPr lang="fr-FR"/>
              <a:t>another</a:t>
            </a:r>
            <a:r>
              <a:rPr lang="fr-FR"/>
              <a:t> header </a:t>
            </a:r>
            <a:r>
              <a:rPr lang="fr-FR"/>
              <a:t>indicated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id="…" </a:t>
            </a:r>
            <a:endParaRPr/>
          </a:p>
          <a:p>
            <a:pPr lvl="1">
              <a:defRPr/>
            </a:pPr>
            <a:r>
              <a:rPr lang="fr-FR"/>
              <a:t>Can </a:t>
            </a:r>
            <a:r>
              <a:rPr lang="fr-FR"/>
              <a:t>be</a:t>
            </a:r>
            <a:r>
              <a:rPr lang="fr-FR"/>
              <a:t> the </a:t>
            </a:r>
            <a:r>
              <a:rPr lang="fr-FR"/>
              <a:t>predicate</a:t>
            </a:r>
            <a:r>
              <a:rPr lang="fr-FR"/>
              <a:t> </a:t>
            </a:r>
            <a:r>
              <a:rPr lang="fr-FR"/>
              <a:t>too</a:t>
            </a:r>
            <a:endParaRPr lang="fr-FR"/>
          </a:p>
          <a:p>
            <a:pPr>
              <a:defRPr/>
            </a:pPr>
            <a:r>
              <a:rPr lang="fr-FR"/>
              <a:t>The </a:t>
            </a:r>
            <a:r>
              <a:rPr lang="fr-FR"/>
              <a:t>converter</a:t>
            </a:r>
            <a:r>
              <a:rPr lang="fr-FR"/>
              <a:t> </a:t>
            </a:r>
            <a:r>
              <a:rPr lang="fr-FR"/>
              <a:t>will</a:t>
            </a:r>
            <a:r>
              <a:rPr lang="fr-FR"/>
              <a:t> look for </a:t>
            </a:r>
            <a:r>
              <a:rPr lang="fr-FR"/>
              <a:t>this</a:t>
            </a:r>
            <a:r>
              <a:rPr lang="fr-FR"/>
              <a:t> label in the </a:t>
            </a:r>
            <a:r>
              <a:rPr lang="fr-FR"/>
              <a:t>corresponding</a:t>
            </a:r>
            <a:r>
              <a:rPr lang="fr-FR"/>
              <a:t> </a:t>
            </a:r>
            <a:r>
              <a:rPr lang="fr-FR"/>
              <a:t>column</a:t>
            </a:r>
            <a:r>
              <a:rPr lang="fr-FR"/>
              <a:t>, and use the URI in </a:t>
            </a:r>
            <a:r>
              <a:rPr lang="fr-FR"/>
              <a:t>column</a:t>
            </a:r>
            <a:r>
              <a:rPr lang="fr-FR"/>
              <a:t> A as the value</a:t>
            </a:r>
            <a:endParaRPr/>
          </a:p>
        </p:txBody>
      </p:sp>
      <p:pic>
        <p:nvPicPr>
          <p:cNvPr id="1805215797" name="Imag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18187" y="1943724"/>
            <a:ext cx="6143625" cy="4772025"/>
          </a:xfrm>
          <a:prstGeom prst="rect">
            <a:avLst/>
          </a:prstGeom>
        </p:spPr>
      </p:pic>
      <p:sp>
        <p:nvSpPr>
          <p:cNvPr id="210967577" name="Légende : flèche courbée 6"/>
          <p:cNvSpPr/>
          <p:nvPr/>
        </p:nvSpPr>
        <p:spPr bwMode="auto">
          <a:xfrm>
            <a:off x="7325360" y="1274050"/>
            <a:ext cx="2794000" cy="669674"/>
          </a:xfrm>
          <a:prstGeom prst="borderCallout2">
            <a:avLst>
              <a:gd name="adj1" fmla="val 42540"/>
              <a:gd name="adj2" fmla="val 104718"/>
              <a:gd name="adj3" fmla="val 43136"/>
              <a:gd name="adj4" fmla="val 116868"/>
              <a:gd name="adj5" fmla="val 240216"/>
              <a:gd name="adj6" fmla="val 131875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>
                <a:solidFill>
                  <a:schemeClr val="tx1"/>
                </a:solidFill>
              </a:rPr>
              <a:t>URI value thesaurus:concept_004002</a:t>
            </a:r>
            <a:endParaRPr/>
          </a:p>
        </p:txBody>
      </p:sp>
      <p:sp>
        <p:nvSpPr>
          <p:cNvPr id="549961389" name="Rectangle 7"/>
          <p:cNvSpPr/>
          <p:nvPr/>
        </p:nvSpPr>
        <p:spPr bwMode="auto">
          <a:xfrm>
            <a:off x="10119359" y="2976880"/>
            <a:ext cx="1842452" cy="320686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16201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Pattern to </a:t>
            </a:r>
            <a:r>
              <a:rPr lang="fr-FR"/>
              <a:t>describe</a:t>
            </a:r>
            <a:r>
              <a:rPr lang="fr-FR"/>
              <a:t> </a:t>
            </a:r>
            <a:r>
              <a:rPr lang="fr-FR"/>
              <a:t>hierarchies</a:t>
            </a:r>
            <a:endParaRPr lang="fr-FR"/>
          </a:p>
        </p:txBody>
      </p:sp>
      <p:sp>
        <p:nvSpPr>
          <p:cNvPr id="1943654890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Use </a:t>
            </a:r>
            <a:r>
              <a:rPr lang="fr-FR"/>
              <a:t>columns</a:t>
            </a:r>
            <a:r>
              <a:rPr lang="fr-FR"/>
              <a:t> </a:t>
            </a:r>
            <a:r>
              <a:rPr lang="fr-FR"/>
              <a:t>structured</a:t>
            </a:r>
            <a:r>
              <a:rPr lang="fr-FR"/>
              <a:t> as </a:t>
            </a:r>
            <a:r>
              <a:rPr lang="fr-FR"/>
              <a:t>hierarchies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labels, </a:t>
            </a:r>
            <a:r>
              <a:rPr lang="fr-FR"/>
              <a:t>that</a:t>
            </a:r>
            <a:r>
              <a:rPr lang="fr-FR"/>
              <a:t> </a:t>
            </a:r>
            <a:r>
              <a:rPr lang="fr-FR"/>
              <a:t>will</a:t>
            </a:r>
            <a:r>
              <a:rPr lang="fr-FR"/>
              <a:t> not </a:t>
            </a:r>
            <a:r>
              <a:rPr lang="fr-FR"/>
              <a:t>be</a:t>
            </a:r>
            <a:r>
              <a:rPr lang="fr-FR"/>
              <a:t> </a:t>
            </a:r>
            <a:r>
              <a:rPr lang="fr-FR"/>
              <a:t>converted</a:t>
            </a:r>
            <a:r>
              <a:rPr lang="fr-FR"/>
              <a:t> (</a:t>
            </a:r>
            <a:r>
              <a:rPr lang="fr-FR"/>
              <a:t>simply</a:t>
            </a:r>
            <a:r>
              <a:rPr lang="fr-FR"/>
              <a:t> </a:t>
            </a:r>
            <a:r>
              <a:rPr lang="fr-FR"/>
              <a:t>indicate</a:t>
            </a:r>
            <a:r>
              <a:rPr lang="fr-FR"/>
              <a:t> « # » in the header </a:t>
            </a:r>
            <a:r>
              <a:rPr lang="fr-FR"/>
              <a:t>row</a:t>
            </a:r>
            <a:r>
              <a:rPr lang="fr-FR"/>
              <a:t>, or </a:t>
            </a:r>
            <a:r>
              <a:rPr lang="fr-FR"/>
              <a:t>any</a:t>
            </a:r>
            <a:r>
              <a:rPr lang="fr-FR"/>
              <a:t> </a:t>
            </a:r>
            <a:r>
              <a:rPr lang="fr-FR"/>
              <a:t>other</a:t>
            </a:r>
            <a:r>
              <a:rPr lang="fr-FR"/>
              <a:t> non-URI string)</a:t>
            </a:r>
            <a:endParaRPr/>
          </a:p>
          <a:p>
            <a:pPr>
              <a:defRPr/>
            </a:pPr>
            <a:r>
              <a:rPr lang="fr-FR"/>
              <a:t>Compute</a:t>
            </a:r>
            <a:r>
              <a:rPr lang="fr-FR"/>
              <a:t> 2 </a:t>
            </a:r>
            <a:r>
              <a:rPr lang="fr-FR"/>
              <a:t>columns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Excel formulas, to </a:t>
            </a:r>
            <a:r>
              <a:rPr lang="fr-FR"/>
              <a:t>retrieve</a:t>
            </a:r>
            <a:r>
              <a:rPr lang="fr-FR"/>
              <a:t> the label of the </a:t>
            </a:r>
            <a:r>
              <a:rPr lang="fr-FR"/>
              <a:t>row</a:t>
            </a:r>
            <a:r>
              <a:rPr lang="fr-FR"/>
              <a:t> and the label of the </a:t>
            </a:r>
            <a:r>
              <a:rPr lang="fr-FR"/>
              <a:t>level</a:t>
            </a:r>
            <a:r>
              <a:rPr lang="fr-FR"/>
              <a:t> </a:t>
            </a:r>
            <a:r>
              <a:rPr lang="fr-FR"/>
              <a:t>above</a:t>
            </a:r>
            <a:endParaRPr lang="fr-FR"/>
          </a:p>
          <a:p>
            <a:pPr lvl="1">
              <a:defRPr/>
            </a:pPr>
            <a:r>
              <a:rPr lang="it-IT"/>
              <a:t>=IF(F11&lt;&gt;"";F11;IF(E11&lt;&gt;""; E11;IF(D11&lt;&gt;""; D11;IF(C11&lt;&gt;""; C11; B11))))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Use « </a:t>
            </a:r>
            <a:r>
              <a:rPr lang="fr-FR"/>
              <a:t>lookupColumn</a:t>
            </a:r>
            <a:r>
              <a:rPr lang="fr-FR"/>
              <a:t> » </a:t>
            </a:r>
            <a:r>
              <a:rPr lang="fr-FR"/>
              <a:t>parameter</a:t>
            </a:r>
            <a:r>
              <a:rPr lang="fr-FR"/>
              <a:t> on the parent </a:t>
            </a:r>
            <a:r>
              <a:rPr lang="fr-FR"/>
              <a:t>column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9940077" name="Imag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52537" y="180975"/>
            <a:ext cx="9686925" cy="6496050"/>
          </a:xfrm>
          <a:prstGeom prst="rect">
            <a:avLst/>
          </a:prstGeom>
        </p:spPr>
      </p:pic>
      <p:sp>
        <p:nvSpPr>
          <p:cNvPr id="1275331949" name="Rectangle 3"/>
          <p:cNvSpPr/>
          <p:nvPr/>
        </p:nvSpPr>
        <p:spPr bwMode="auto">
          <a:xfrm>
            <a:off x="7518400" y="1320800"/>
            <a:ext cx="3421062" cy="64008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49576144" name="Rectangle 4"/>
          <p:cNvSpPr/>
          <p:nvPr/>
        </p:nvSpPr>
        <p:spPr bwMode="auto">
          <a:xfrm>
            <a:off x="3616960" y="1320800"/>
            <a:ext cx="3779520" cy="640080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10565586" name="Rectangle 5"/>
          <p:cNvSpPr/>
          <p:nvPr/>
        </p:nvSpPr>
        <p:spPr bwMode="auto">
          <a:xfrm>
            <a:off x="3606800" y="180975"/>
            <a:ext cx="5882640" cy="459104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0206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768176" name="Google Shape;66;p15"/>
          <p:cNvSpPr txBox="1">
            <a:spLocks noGrp="1"/>
          </p:cNvSpPr>
          <p:nvPr>
            <p:ph type="title"/>
          </p:nvPr>
        </p:nvSpPr>
        <p:spPr bwMode="auto">
          <a:xfrm>
            <a:off x="415599" y="2739466"/>
            <a:ext cx="11360800" cy="1449199"/>
          </a:xfrm>
          <a:prstGeom prst="rect">
            <a:avLst/>
          </a:prstGeom>
        </p:spPr>
        <p:txBody>
          <a:bodyPr spcFirstLastPara="1" wrap="square" lIns="121899" tIns="121899" rIns="121899" bIns="121899" anchor="ctr" anchorCtr="0">
            <a:noAutofit/>
          </a:bodyPr>
          <a:lstStyle/>
          <a:p>
            <a:pPr>
              <a:defRPr/>
            </a:pPr>
            <a:r>
              <a:rPr lang="fr-FR" sz="7200">
                <a:solidFill>
                  <a:schemeClr val="lt1"/>
                </a:solidFill>
                <a:latin typeface="Century Gothic"/>
              </a:rPr>
              <a:t>SHACL-specific features</a:t>
            </a:r>
            <a:endParaRPr sz="7200">
              <a:solidFill>
                <a:schemeClr val="lt1"/>
              </a:solidFill>
              <a:latin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4131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SHACL xls2rdf Template</a:t>
            </a:r>
            <a:endParaRPr/>
          </a:p>
        </p:txBody>
      </p:sp>
      <p:sp>
        <p:nvSpPr>
          <p:cNvPr id="345180614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Available from SHACL Play : </a:t>
            </a:r>
            <a:r>
              <a:rPr lang="fr-FR" sz="28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3" tooltip=""/>
              </a:rPr>
              <a:t>https://shacl-play.sparna.fr/play/shaclexcel</a:t>
            </a:r>
            <a:endParaRPr/>
          </a:p>
          <a:p>
            <a:pPr>
              <a:defRPr/>
            </a:pPr>
            <a:r>
              <a:rPr/>
              <a:t>Contains a predefined Excel template to maintain SHACL specifications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67882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3600"/>
              <a:t>You can use SPARQL property paths in sh:path</a:t>
            </a:r>
            <a:endParaRPr/>
          </a:p>
        </p:txBody>
      </p:sp>
      <p:sp>
        <p:nvSpPr>
          <p:cNvPr id="1028225836" name="Espace réservé du contenu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4412958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/>
              <a:t>SHACL property paths have their own syntax (not SPARQL) and are cumbersome to write</a:t>
            </a:r>
            <a:endParaRPr/>
          </a:p>
          <a:p>
            <a:pPr>
              <a:defRPr/>
            </a:pPr>
            <a:r>
              <a:rPr/>
              <a:t>xls2rdf</a:t>
            </a:r>
            <a:r>
              <a:rPr/>
              <a:t> automatically understands SPARQL property path syntax in sh:path column and will translate it into SHACL.</a:t>
            </a:r>
            <a:endParaRPr/>
          </a:p>
          <a:p>
            <a:pPr>
              <a:defRPr/>
            </a:pPr>
            <a:r>
              <a:rPr/>
              <a:t>You can write « ^ex:parent »</a:t>
            </a:r>
            <a:r>
              <a:rPr/>
              <a:t> and it will be translated to [ sh :inversePath ex :parent ]</a:t>
            </a:r>
            <a:endParaRPr/>
          </a:p>
        </p:txBody>
      </p:sp>
      <p:pic>
        <p:nvPicPr>
          <p:cNvPr id="171716512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28508" y="2160548"/>
            <a:ext cx="7218625" cy="3203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35228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sz="3600"/>
              <a:t>Multiple values in certain columns can be automatically translated into sh:or</a:t>
            </a:r>
            <a:endParaRPr/>
          </a:p>
        </p:txBody>
      </p:sp>
      <p:sp>
        <p:nvSpPr>
          <p:cNvPr id="1843422343" name="Espace réservé du contenu 2"/>
          <p:cNvSpPr>
            <a:spLocks noGrp="1"/>
          </p:cNvSpPr>
          <p:nvPr>
            <p:ph idx="1"/>
          </p:nvPr>
        </p:nvSpPr>
        <p:spPr bwMode="auto">
          <a:xfrm flipH="0" flipV="0">
            <a:off x="838198" y="1825624"/>
            <a:ext cx="651930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0000" lnSpcReduction="8000"/>
          </a:bodyPr>
          <a:lstStyle/>
          <a:p>
            <a:pPr>
              <a:defRPr/>
            </a:pPr>
            <a:r>
              <a:rPr/>
              <a:t>Using sh:or in SHACL introduces complexity as :</a:t>
            </a:r>
            <a:endParaRPr/>
          </a:p>
          <a:p>
            <a:pPr lvl="1">
              <a:defRPr/>
            </a:pPr>
            <a:r>
              <a:rPr/>
              <a:t>It has to be in a different column than the original constraints to be combined</a:t>
            </a:r>
            <a:endParaRPr/>
          </a:p>
          <a:p>
            <a:pPr lvl="1">
              <a:defRPr/>
            </a:pPr>
            <a:r>
              <a:rPr/>
              <a:t>It has to use an inner blank node syntax</a:t>
            </a:r>
            <a:endParaRPr/>
          </a:p>
          <a:p>
            <a:pPr lvl="0">
              <a:defRPr/>
            </a:pPr>
            <a:r>
              <a:rPr/>
              <a:t>Most of the time, sh:or is used to combine constraints of the same type</a:t>
            </a:r>
            <a:endParaRPr/>
          </a:p>
          <a:p>
            <a:pPr lvl="1">
              <a:defRPr/>
            </a:pPr>
            <a:r>
              <a:rPr/>
              <a:t>Multiple sh:datatype</a:t>
            </a:r>
            <a:endParaRPr/>
          </a:p>
          <a:p>
            <a:pPr lvl="1">
              <a:defRPr/>
            </a:pPr>
            <a:r>
              <a:rPr/>
              <a:t>Multiple sh:class</a:t>
            </a:r>
            <a:endParaRPr/>
          </a:p>
          <a:p>
            <a:pPr lvl="1">
              <a:defRPr/>
            </a:pPr>
            <a:r>
              <a:rPr/>
              <a:t>Multiple sh:node</a:t>
            </a:r>
            <a:endParaRPr/>
          </a:p>
          <a:p>
            <a:pPr lvl="0">
              <a:defRPr/>
            </a:pPr>
            <a:r>
              <a:rPr/>
              <a:t>For those cases, xls2rdf has a specific annotation to use the same column (e.g. sh:datatype) and « wrap » it inside an sh:or if it has multiple values</a:t>
            </a:r>
            <a:endParaRPr/>
          </a:p>
          <a:p>
            <a:pPr lvl="1">
              <a:defRPr/>
            </a:pPr>
            <a:r>
              <a:rPr/>
              <a:t>To be combined with « separator=";" »</a:t>
            </a:r>
            <a:endParaRPr/>
          </a:p>
          <a:p>
            <a:pPr lvl="1">
              <a:defRPr/>
            </a:pPr>
            <a:r>
              <a:rPr sz="2200">
                <a:latin typeface="Consolas"/>
                <a:ea typeface="Consolas"/>
                <a:cs typeface="Consolas"/>
              </a:rPr>
              <a:t>sh:datatype(separator=";" wrapper="sh:or")</a:t>
            </a:r>
            <a:endParaRPr/>
          </a:p>
          <a:p>
            <a:pPr lvl="1">
              <a:defRPr/>
            </a:pPr>
            <a:r>
              <a:rPr/>
              <a:t>See </a:t>
            </a:r>
            <a:r>
              <a:rPr u="sng">
                <a:hlinkClick r:id="rId3" tooltip=""/>
              </a:rPr>
              <a:t>documentation</a:t>
            </a:r>
            <a:endParaRPr/>
          </a:p>
          <a:p>
            <a:pPr lvl="0">
              <a:defRPr/>
            </a:pPr>
            <a:r>
              <a:rPr/>
              <a:t>No need for a dedicated sh :or column for simple cases (but still needed for other kinds of constraints combination)</a:t>
            </a:r>
            <a:endParaRPr/>
          </a:p>
        </p:txBody>
      </p:sp>
      <p:pic>
        <p:nvPicPr>
          <p:cNvPr id="174545496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481402" y="1640897"/>
            <a:ext cx="3999784" cy="2311512"/>
          </a:xfrm>
          <a:prstGeom prst="rect">
            <a:avLst/>
          </a:prstGeom>
        </p:spPr>
      </p:pic>
      <p:pic>
        <p:nvPicPr>
          <p:cNvPr id="52726210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245144" y="4126357"/>
            <a:ext cx="2472300" cy="1965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4395147" name="Graphique 2"/>
          <p:cNvPicPr>
            <a:picLocks noChangeAspect="1"/>
          </p:cNvPicPr>
          <p:nvPr/>
        </p:nvPicPr>
        <p:blipFill rotWithShape="1"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3048000" y="990600"/>
            <a:ext cx="6096000" cy="487680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ONLYOFFICE/9.1.0.173</Application>
  <DocSecurity>0</DocSecurity>
  <PresentationFormat>On-screen Show (4:3)</PresentationFormat>
  <Paragraphs>0</Paragraphs>
  <Slides>26</Slides>
  <Notes>26</Notes>
  <HiddenSlides>0</HiddenSlides>
  <MMClips>2</MMClips>
  <ScaleCrop>0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Theme 1</vt:lpstr>
      <vt:lpstr>Theme 2</vt:lpstr>
      <vt:lpstr>Theme 3</vt:lpstr>
      <vt:lpstr>Theme 4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Thomas Francart</dc:creator>
  <cp:keywords/>
  <dc:description/>
  <dc:identifier/>
  <dc:language/>
  <cp:lastModifiedBy/>
  <cp:revision>4</cp:revision>
  <dcterms:created xsi:type="dcterms:W3CDTF">2022-01-12T10:38:56Z</dcterms:created>
  <dcterms:modified xsi:type="dcterms:W3CDTF">2025-11-04T07:33:02Z</dcterms:modified>
  <cp:category/>
  <cp:contentStatus/>
  <cp:version/>
</cp:coreProperties>
</file>